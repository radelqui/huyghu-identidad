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[Nombre del Socio Director] de HUYGHU &amp; Asociados, firma de contadores públicos miembro del Grupo Chrytsa. En los próximos 15 minutos voy a mostrarles cómo trabajamos y por qué más de 300 empresas en República Dominicana confían en nosotros su cumplimiento fiscal y contable. Nuestro lema es claro: su cumplimiento es nuestra prioridad.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HUYGHU &amp; Asociados no es una firma improvisada. Somos parte del Grupo Chrytsa, un holding de asesoría empresarial que reúne cuatro firmas especializadas — contable, legal, y dos áreas adicionales. Llevamos más de quince años acompañando a clientes con cumplimiento fiscal integral, auditoría externa, y consultoría contable. Operamos desde Torre Acrópolis, Piso 14, en plena Avenida Winston Churchill.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cifras hablan por sí solas. Más de 15 años de trayectoria, más de 300 clientes activos, más de 25 profesionales certificados, y 100% de cumplimiento DGII en el último ejercicio fiscal. Cero notificaciones por mora, cero rectificativas forzadas. Esto no se logra con suerte, se logra con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Nuestros servicios contables core cubren todo el ciclo. Contabilidad General mensual, Estados Financieros bajo NIIF, Conciliaciones Bancarias, Outsourcing Contable completo, Reestructuración Financiera para empresas en crecimiento o turnaround, y Consultoría Laboral integral. Cada uno con un responsable senior asignado.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plano fiscal nos especializamos en las cinco declaraciones DGII más críticas: ITBIS formulario IT-1 mensual, ISR de personas físicas IR-1, IR-3 e IR-17, ISR de personas jurídicas IR-2 anual, formato 606 de compras, y formato 607 de ventas. Todo se somete vía portal DGII con confirmación electrónica en menos de 24 horas. Sin papel, sin filas, sin sorpresas.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Auditoría y Due Diligence es nuestra unidad de mayor crecimiento. Realizamos auditorías externas independientes con informes alineados a NIIF para PYMES y NIIF Plenas. El Due Diligence lo aplicamos en fusiones, adquisiciones y procesos de financiamiento bancario. Cliente entrega información, nosotros entregamos un informe firmado por CPA colegiado.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gestión de nómina suele ser dolor de cabeza por la cantidad de plataformas a las que hay que reportar. Nosotros lo consolidamos en un solo proceso: cálculo de nómina mensual, presentación de TSS, presentación de INFOTEP, retenciones IR-3 a empleados, y emisión de constancias salariales. El cliente recibe un solo PDF mensual con todo aprobado.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Tenemos cuatro planes que cubren prácticamente cualquier necesidad: Básico para empresas iniciando operaciones, Estándar para PYMES en crecimiento, Premium para empresas medianas, y Corporativo para grupos empresariales con múltiples RNCs. Los precios se ajustan al volumen transaccional real — nada de sorpresas a mitad de año.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Permítanme compartir tres casos representativos. El primero, una empresa de servicios profesionales que redujo su carga fiscal efectiva un 18% en el primer año. El segundo, un grupo comercial que pasó de cinco rectificativas anuales a cero. El tercero, una empresa familiar que cerró su primera auditoría externa limpia tras una restructuración contable nuestra.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equipo está estructurado para escalar. Un Socio Director con responsabilidad técnica final, un Gerente de Cuenta por portafolio, dos Contadores Senior por cuenta corporativa, un Analista Fiscal especializado en DGII, y Asistentes Contables para data entry. Todos certificados ICPARD y miembros del CCPSD.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la mejor tecnología disponible para el mercado dominicano. QuickBooks Online para contabilidad multi-moneda, GestoriaRD para automatizar declaraciones, integración directa con el portal DGII, Firma Electrónica certificada para documentos legales, y WhatsApp Business para comunicación cliente. Procesos 100% digitales.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nos diferencia de otras firmas contables? Cuatro cosas concretas: tiempo de respuesta menor a 24 horas en consultas operativas, confidencialidad bajo Ley 172-13 con acuerdos firmados, facturación sin sorpresas con precio fijo mensual, y reportes ejecutivos mensuales para el cliente principal, no solo para la DGII.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proceso de onboarding está diseñado para que el cliente esté operando bajo nuestro servicio en menos de 30 días. Paso 1: diagnóstico inicial gratuito de una hora. Paso 2: propuesta personalizada en tres días hábiles. Paso 3: onboarding documental de una semana donde recogemos toda la información histórica. Paso 4: primera entrega mensual completa al cierre del primer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garantías que ofrecemos son reales y verificables. Certificación ICPARD vigente de todos nuestros CPAs, seguro de responsabilidad civil profesional internacional, auditoría interna trimestral de nuestros propios procesos, y continuidad operativa garantizada con backup de 30 días y servidores redundantes.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 y este es el momento más importante. Si lo que han escuchado tiene sentido para su empresa, agendemos un diagnóstico inicial sin compromiso. Escaneen el código QR en pantalla, escríbanme directamente a info@huyghu.com, o llamen al teléfono que aparece abajo. La primera reunión es gratuita y siempre vale la pena. Gracias por su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096250" y="1972628"/>
            <a:ext cx="2095500" cy="2095500"/>
          </a:xfrm>
          <a:prstGeom prst="rect">
            <a:avLst/>
          </a:prstGeom>
        </p:spPr>
      </p:pic>
      <p:sp>
        <p:nvSpPr>
          <p:cNvPr id="3" name="Text 0"/>
          <p:cNvSpPr/>
          <p:nvPr/>
        </p:nvSpPr>
        <p:spPr>
          <a:xfrm>
            <a:off x="1308156" y="4525328"/>
            <a:ext cx="15671570" cy="1181100"/>
          </a:xfrm>
          <a:prstGeom prst="rect">
            <a:avLst/>
          </a:prstGeom>
          <a:noFill/>
          <a:ln/>
        </p:spPr>
        <p:txBody>
          <a:bodyPr wrap="square" lIns="25400" tIns="25400" rIns="25400" bIns="25400" rtlCol="0" anchor="t">
            <a:normAutofit/>
          </a:bodyPr>
          <a:lstStyle/>
          <a:p>
            <a:pPr algn="ctr" indent="0" marL="0">
              <a:lnSpc>
                <a:spcPct val="100000"/>
              </a:lnSpc>
              <a:buNone/>
            </a:pPr>
            <a:r>
              <a:rPr lang="en-US" sz="9000" b="1" spc="540" kern="0" dirty="0">
                <a:solidFill>
                  <a:srgbClr val="F4D773"/>
                </a:solidFill>
                <a:latin typeface="Cinzel" pitchFamily="34" charset="0"/>
                <a:ea typeface="Cinzel" pitchFamily="34" charset="-122"/>
                <a:cs typeface="Cinzel" pitchFamily="34" charset="-120"/>
              </a:rPr>
              <a:t>HUYGHU </a:t>
            </a:r>
            <a:pPr algn="ctr" indent="0" marL="0">
              <a:lnSpc>
                <a:spcPct val="100000"/>
              </a:lnSpc>
              <a:buNone/>
            </a:pPr>
            <a:r>
              <a:rPr lang="en-US" sz="9000" b="1" spc="540" kern="0" dirty="0">
                <a:solidFill>
                  <a:srgbClr val="D4AF37"/>
                </a:solidFill>
                <a:latin typeface="Cinzel" pitchFamily="34" charset="0"/>
                <a:ea typeface="Cinzel" pitchFamily="34" charset="-122"/>
                <a:cs typeface="Cinzel" pitchFamily="34" charset="-120"/>
              </a:rPr>
              <a:t>&amp; </a:t>
            </a:r>
            <a:pPr algn="ctr" indent="0" marL="0">
              <a:lnSpc>
                <a:spcPct val="100000"/>
              </a:lnSpc>
              <a:buNone/>
            </a:pPr>
            <a:r>
              <a:rPr lang="en-US" sz="9000" b="1" spc="540" kern="0" dirty="0">
                <a:solidFill>
                  <a:srgbClr val="F4D773"/>
                </a:solidFill>
                <a:latin typeface="Cinzel" pitchFamily="34" charset="0"/>
                <a:ea typeface="Cinzel" pitchFamily="34" charset="-122"/>
                <a:cs typeface="Cinzel" pitchFamily="34" charset="-120"/>
              </a:rPr>
              <a:t>ASOCIADOS</a:t>
            </a:r>
            <a:endParaRPr lang="en-US" sz="9000" dirty="0"/>
          </a:p>
        </p:txBody>
      </p:sp>
      <p:sp>
        <p:nvSpPr>
          <p:cNvPr id="4" name="Text 1"/>
          <p:cNvSpPr/>
          <p:nvPr/>
        </p:nvSpPr>
        <p:spPr>
          <a:xfrm>
            <a:off x="4744492" y="5935028"/>
            <a:ext cx="8799016" cy="297180"/>
          </a:xfrm>
          <a:prstGeom prst="rect">
            <a:avLst/>
          </a:prstGeom>
          <a:noFill/>
          <a:ln/>
        </p:spPr>
        <p:txBody>
          <a:bodyPr wrap="square" lIns="25400" tIns="25400" rIns="25400" bIns="25400" rtlCol="0" anchor="t">
            <a:normAutofit/>
          </a:bodyPr>
          <a:lstStyle/>
          <a:p>
            <a:pPr algn="ctr" indent="0" marL="0">
              <a:buNone/>
            </a:pPr>
            <a:r>
              <a:rPr lang="en-US" sz="1650" spc="1023" kern="0" dirty="0">
                <a:solidFill>
                  <a:srgbClr val="F2EDDE"/>
                </a:solidFill>
                <a:latin typeface="Montserrat" pitchFamily="34" charset="0"/>
                <a:ea typeface="Montserrat" pitchFamily="34" charset="-122"/>
                <a:cs typeface="Montserrat" pitchFamily="34" charset="-120"/>
              </a:rPr>
              <a:t>C O N T A D O R E S P Ú B L I C O S</a:t>
            </a:r>
            <a:endParaRPr lang="en-US" sz="1650" dirty="0"/>
          </a:p>
        </p:txBody>
      </p:sp>
      <p:sp>
        <p:nvSpPr>
          <p:cNvPr id="5" name="Text 2"/>
          <p:cNvSpPr/>
          <p:nvPr/>
        </p:nvSpPr>
        <p:spPr>
          <a:xfrm>
            <a:off x="5509485" y="7118032"/>
            <a:ext cx="7269030" cy="472440"/>
          </a:xfrm>
          <a:prstGeom prst="rect">
            <a:avLst/>
          </a:prstGeom>
          <a:noFill/>
          <a:ln/>
        </p:spPr>
        <p:txBody>
          <a:bodyPr wrap="square" lIns="25400" tIns="25400" rIns="25400" bIns="25400" rtlCol="0" anchor="t">
            <a:normAutofit/>
          </a:bodyPr>
          <a:lstStyle/>
          <a:p>
            <a:pPr algn="ctr" indent="0" marL="0">
              <a:buNone/>
            </a:pPr>
            <a:r>
              <a:rPr lang="en-US" sz="2550" i="1" spc="102" kern="0" dirty="0">
                <a:solidFill>
                  <a:srgbClr val="D4AF37"/>
                </a:solidFill>
                <a:latin typeface="Cinzel" pitchFamily="34" charset="0"/>
                <a:ea typeface="Cinzel" pitchFamily="34" charset="-122"/>
                <a:cs typeface="Cinzel" pitchFamily="34" charset="-120"/>
              </a:rPr>
              <a:t>"Su cumplimiento, nuestra prioridad."</a:t>
            </a:r>
            <a:endParaRPr lang="en-US" sz="2550" dirty="0"/>
          </a:p>
        </p:txBody>
      </p:sp>
      <p:sp>
        <p:nvSpPr>
          <p:cNvPr id="6" name="Text 3"/>
          <p:cNvSpPr/>
          <p:nvPr/>
        </p:nvSpPr>
        <p:spPr>
          <a:xfrm>
            <a:off x="5963723" y="8161973"/>
            <a:ext cx="6360555" cy="190500"/>
          </a:xfrm>
          <a:prstGeom prst="rect">
            <a:avLst/>
          </a:prstGeom>
          <a:noFill/>
          <a:ln/>
        </p:spPr>
        <p:txBody>
          <a:bodyPr wrap="square" lIns="25400" tIns="25400" rIns="25400" bIns="25400" rtlCol="0" anchor="t">
            <a:normAutofit/>
          </a:bodyPr>
          <a:lstStyle/>
          <a:p>
            <a:pPr algn="ctr" indent="0" marL="0">
              <a:buNone/>
            </a:pPr>
            <a:r>
              <a:rPr lang="en-US" sz="975" spc="312" kern="0" dirty="0">
                <a:solidFill>
                  <a:srgbClr val="6B6759"/>
                </a:solidFill>
                <a:latin typeface="Inter" pitchFamily="34" charset="0"/>
                <a:ea typeface="Inter" pitchFamily="34" charset="-122"/>
                <a:cs typeface="Inter" pitchFamily="34" charset="-120"/>
              </a:rPr>
              <a:t>MIEMBRO DEL GRUPO CHRYTSA · REPÚBLICA DOMINICANA · 2026</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02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02 · IDENTIDAD</a:t>
            </a:r>
            <a:endParaRPr lang="en-US" sz="1050" dirty="0"/>
          </a:p>
        </p:txBody>
      </p:sp>
      <p:sp>
        <p:nvSpPr>
          <p:cNvPr id="7" name="Text 4"/>
          <p:cNvSpPr/>
          <p:nvPr/>
        </p:nvSpPr>
        <p:spPr>
          <a:xfrm>
            <a:off x="914400" y="3679508"/>
            <a:ext cx="9431319"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¿Quiénes somos?</a:t>
            </a:r>
            <a:endParaRPr lang="en-US" sz="6300" dirty="0"/>
          </a:p>
        </p:txBody>
      </p:sp>
      <p:sp>
        <p:nvSpPr>
          <p:cNvPr id="8" name="Text 5"/>
          <p:cNvSpPr/>
          <p:nvPr/>
        </p:nvSpPr>
        <p:spPr>
          <a:xfrm>
            <a:off x="914400" y="4767263"/>
            <a:ext cx="9431319" cy="1573530"/>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Firma de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contadores públicos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miembro del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Grupo Chrytsa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 holding de asesoría empresarial en República Dominicana. Más de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15 años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de experiencia respaldando a clientes con cumplimiento fiscal integral, auditoría externa y consultoría contable bajo NIIF.</a:t>
            </a:r>
            <a:endParaRPr lang="en-US" sz="1950" dirty="0"/>
          </a:p>
        </p:txBody>
      </p:sp>
      <p:sp>
        <p:nvSpPr>
          <p:cNvPr id="9" name="Text 6"/>
          <p:cNvSpPr/>
          <p:nvPr/>
        </p:nvSpPr>
        <p:spPr>
          <a:xfrm>
            <a:off x="914400" y="6759893"/>
            <a:ext cx="1358741"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4D773"/>
                </a:solidFill>
                <a:latin typeface="Cinzel" pitchFamily="34" charset="0"/>
                <a:ea typeface="Cinzel" pitchFamily="34" charset="-122"/>
                <a:cs typeface="Cinzel" pitchFamily="34" charset="-120"/>
              </a:rPr>
              <a:t>[15+]</a:t>
            </a:r>
            <a:endParaRPr lang="en-US" sz="3000" dirty="0"/>
          </a:p>
        </p:txBody>
      </p:sp>
      <p:sp>
        <p:nvSpPr>
          <p:cNvPr id="10" name="Text 7"/>
          <p:cNvSpPr/>
          <p:nvPr/>
        </p:nvSpPr>
        <p:spPr>
          <a:xfrm>
            <a:off x="914400" y="7178993"/>
            <a:ext cx="1358741"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AÑOS OPERANDO</a:t>
            </a:r>
            <a:endParaRPr lang="en-US" sz="825" dirty="0"/>
          </a:p>
        </p:txBody>
      </p:sp>
      <p:sp>
        <p:nvSpPr>
          <p:cNvPr id="11" name="Text 8"/>
          <p:cNvSpPr/>
          <p:nvPr/>
        </p:nvSpPr>
        <p:spPr>
          <a:xfrm>
            <a:off x="2654141" y="6759893"/>
            <a:ext cx="1505426"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4D773"/>
                </a:solidFill>
                <a:latin typeface="Cinzel" pitchFamily="34" charset="0"/>
                <a:ea typeface="Cinzel" pitchFamily="34" charset="-122"/>
                <a:cs typeface="Cinzel" pitchFamily="34" charset="-120"/>
              </a:rPr>
              <a:t>ICPARD</a:t>
            </a:r>
            <a:endParaRPr lang="en-US" sz="3000" dirty="0"/>
          </a:p>
        </p:txBody>
      </p:sp>
      <p:sp>
        <p:nvSpPr>
          <p:cNvPr id="12" name="Text 9"/>
          <p:cNvSpPr/>
          <p:nvPr/>
        </p:nvSpPr>
        <p:spPr>
          <a:xfrm>
            <a:off x="2654141" y="7178993"/>
            <a:ext cx="1505426"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COLEGIADOS</a:t>
            </a:r>
            <a:endParaRPr lang="en-US" sz="825" dirty="0"/>
          </a:p>
        </p:txBody>
      </p:sp>
      <p:sp>
        <p:nvSpPr>
          <p:cNvPr id="13" name="Text 10"/>
          <p:cNvSpPr/>
          <p:nvPr/>
        </p:nvSpPr>
        <p:spPr>
          <a:xfrm>
            <a:off x="4540568" y="6759893"/>
            <a:ext cx="1318617" cy="41910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F4D773"/>
                </a:solidFill>
                <a:latin typeface="Cinzel" pitchFamily="34" charset="0"/>
                <a:ea typeface="Cinzel" pitchFamily="34" charset="-122"/>
                <a:cs typeface="Cinzel" pitchFamily="34" charset="-120"/>
              </a:rPr>
              <a:t>NIIF</a:t>
            </a:r>
            <a:endParaRPr lang="en-US" sz="3000" dirty="0"/>
          </a:p>
        </p:txBody>
      </p:sp>
      <p:sp>
        <p:nvSpPr>
          <p:cNvPr id="14" name="Text 11"/>
          <p:cNvSpPr/>
          <p:nvPr/>
        </p:nvSpPr>
        <p:spPr>
          <a:xfrm>
            <a:off x="4540568" y="7178993"/>
            <a:ext cx="1318617"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PYMES + PLENAS</a:t>
            </a:r>
            <a:endParaRPr lang="en-US" sz="825" dirty="0"/>
          </a:p>
        </p:txBody>
      </p:sp>
      <p:sp>
        <p:nvSpPr>
          <p:cNvPr id="15" name="Shape 12"/>
          <p:cNvSpPr/>
          <p:nvPr/>
        </p:nvSpPr>
        <p:spPr>
          <a:xfrm>
            <a:off x="12762071" y="3630930"/>
            <a:ext cx="2682240" cy="2682240"/>
          </a:xfrm>
          <a:prstGeom prst="rect">
            <a:avLst/>
          </a:prstGeom>
          <a:ln w="7620">
            <a:solidFill>
              <a:srgbClr val="D4AF37">
                <a:alpha val="25000"/>
              </a:srgbClr>
            </a:solidFill>
            <a:prstDash val="solid"/>
          </a:ln>
        </p:spPr>
      </p:sp>
      <p:pic>
        <p:nvPicPr>
          <p:cNvPr id="16" name="Image 1" descr="preencoded.png">    </p:cNvPr>
          <p:cNvPicPr>
            <a:picLocks noChangeAspect="1"/>
          </p:cNvPicPr>
          <p:nvPr/>
        </p:nvPicPr>
        <p:blipFill>
          <a:blip r:embed="rId2"/>
          <a:stretch>
            <a:fillRect/>
          </a:stretch>
        </p:blipFill>
        <p:spPr>
          <a:xfrm>
            <a:off x="13150691" y="4019550"/>
            <a:ext cx="1905000" cy="1905000"/>
          </a:xfrm>
          <a:prstGeom prst="rect">
            <a:avLst/>
          </a:prstGeom>
        </p:spPr>
      </p:pic>
      <p:sp>
        <p:nvSpPr>
          <p:cNvPr id="17" name="Shape 13"/>
          <p:cNvSpPr/>
          <p:nvPr/>
        </p:nvSpPr>
        <p:spPr>
          <a:xfrm>
            <a:off x="12757785" y="6617970"/>
            <a:ext cx="1510665" cy="289560"/>
          </a:xfrm>
          <a:prstGeom prst="rect">
            <a:avLst/>
          </a:prstGeom>
          <a:ln w="7620">
            <a:solidFill>
              <a:srgbClr val="D4AF37">
                <a:alpha val="30000"/>
              </a:srgbClr>
            </a:solidFill>
            <a:prstDash val="solid"/>
          </a:ln>
        </p:spPr>
      </p:sp>
      <p:sp>
        <p:nvSpPr>
          <p:cNvPr id="18" name="Text 14"/>
          <p:cNvSpPr/>
          <p:nvPr/>
        </p:nvSpPr>
        <p:spPr>
          <a:xfrm>
            <a:off x="12898755" y="6701790"/>
            <a:ext cx="1304925"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F4D773"/>
                </a:solidFill>
                <a:latin typeface="Montserrat" pitchFamily="34" charset="0"/>
                <a:ea typeface="Montserrat" pitchFamily="34" charset="-122"/>
                <a:cs typeface="Montserrat" pitchFamily="34" charset="-120"/>
              </a:rPr>
              <a:t>GRUPO CHRYTSA</a:t>
            </a:r>
            <a:endParaRPr lang="en-US" sz="825" dirty="0"/>
          </a:p>
        </p:txBody>
      </p:sp>
      <p:sp>
        <p:nvSpPr>
          <p:cNvPr id="19" name="Text 15"/>
          <p:cNvSpPr/>
          <p:nvPr/>
        </p:nvSpPr>
        <p:spPr>
          <a:xfrm>
            <a:off x="14344650" y="6701790"/>
            <a:ext cx="204073"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a:t>
            </a:r>
            <a:endParaRPr lang="en-US" sz="825" dirty="0"/>
          </a:p>
        </p:txBody>
      </p:sp>
      <p:sp>
        <p:nvSpPr>
          <p:cNvPr id="20" name="Shape 16"/>
          <p:cNvSpPr/>
          <p:nvPr/>
        </p:nvSpPr>
        <p:spPr>
          <a:xfrm>
            <a:off x="14548724" y="6617970"/>
            <a:ext cx="899993" cy="289560"/>
          </a:xfrm>
          <a:prstGeom prst="rect">
            <a:avLst/>
          </a:prstGeom>
          <a:solidFill>
            <a:srgbClr val="D4AF37"/>
          </a:solidFill>
          <a:ln w="7620">
            <a:solidFill>
              <a:srgbClr val="D4AF37"/>
            </a:solidFill>
            <a:prstDash val="solid"/>
          </a:ln>
        </p:spPr>
      </p:sp>
      <p:sp>
        <p:nvSpPr>
          <p:cNvPr id="21" name="Text 17"/>
          <p:cNvSpPr/>
          <p:nvPr/>
        </p:nvSpPr>
        <p:spPr>
          <a:xfrm>
            <a:off x="14689694" y="6701790"/>
            <a:ext cx="694253"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0A0A0A"/>
                </a:solidFill>
                <a:latin typeface="Montserrat" pitchFamily="34" charset="0"/>
                <a:ea typeface="Montserrat" pitchFamily="34" charset="-122"/>
                <a:cs typeface="Montserrat" pitchFamily="34" charset="-120"/>
              </a:rPr>
              <a:t>HUYGHU</a:t>
            </a:r>
            <a:endParaRPr lang="en-US" sz="825" dirty="0"/>
          </a:p>
        </p:txBody>
      </p:sp>
      <p:sp>
        <p:nvSpPr>
          <p:cNvPr id="22" name="Text 18"/>
          <p:cNvSpPr/>
          <p:nvPr/>
        </p:nvSpPr>
        <p:spPr>
          <a:xfrm>
            <a:off x="13496568" y="7212330"/>
            <a:ext cx="1213366" cy="403860"/>
          </a:xfrm>
          <a:prstGeom prst="rect">
            <a:avLst/>
          </a:prstGeom>
          <a:noFill/>
          <a:ln/>
        </p:spPr>
        <p:txBody>
          <a:bodyPr wrap="square" lIns="25400" tIns="25400" rIns="25400" bIns="25400" rtlCol="0" anchor="t">
            <a:normAutofit/>
          </a:bodyPr>
          <a:lstStyle/>
          <a:p>
            <a:pPr algn="ctr" indent="0" marL="0">
              <a:lnSpc>
                <a:spcPct val="160000"/>
              </a:lnSpc>
              <a:buNone/>
            </a:pPr>
            <a:r>
              <a:rPr lang="en-US" sz="900" spc="36" kern="0" dirty="0">
                <a:solidFill>
                  <a:srgbClr val="6B6759"/>
                </a:solidFill>
                <a:latin typeface="Inter" pitchFamily="34" charset="0"/>
                <a:ea typeface="Inter" pitchFamily="34" charset="-122"/>
                <a:cs typeface="Inter" pitchFamily="34" charset="-120"/>
              </a:rPr>
              <a:t>Una de las 4 firmas del holding Chrytsa</a:t>
            </a:r>
            <a:endParaRPr lang="en-US" sz="900" dirty="0"/>
          </a:p>
        </p:txBody>
      </p:sp>
      <p:sp>
        <p:nvSpPr>
          <p:cNvPr id="23" name="Text 19"/>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24" name="Text 20"/>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03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03 · TRAYECTORIA</a:t>
            </a:r>
            <a:endParaRPr lang="en-US" sz="1050" dirty="0"/>
          </a:p>
        </p:txBody>
      </p:sp>
      <p:sp>
        <p:nvSpPr>
          <p:cNvPr id="7" name="Text 4"/>
          <p:cNvSpPr/>
          <p:nvPr/>
        </p:nvSpPr>
        <p:spPr>
          <a:xfrm>
            <a:off x="914400" y="1798320"/>
            <a:ext cx="16952976" cy="1718310"/>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Cifras que respaldan una década y media.</a:t>
            </a:r>
            <a:endParaRPr lang="en-US" sz="6300" dirty="0"/>
          </a:p>
        </p:txBody>
      </p:sp>
      <p:sp>
        <p:nvSpPr>
          <p:cNvPr id="8" name="Shape 5"/>
          <p:cNvSpPr/>
          <p:nvPr/>
        </p:nvSpPr>
        <p:spPr>
          <a:xfrm>
            <a:off x="914400" y="4297680"/>
            <a:ext cx="3886200" cy="4358640"/>
          </a:xfrm>
          <a:prstGeom prst="rect">
            <a:avLst/>
          </a:prstGeom>
          <a:solidFill>
            <a:srgbClr val="D4AF37">
              <a:alpha val="3000"/>
            </a:srgbClr>
          </a:solidFill>
          <a:ln w="7620">
            <a:solidFill>
              <a:srgbClr val="D4AF37">
                <a:alpha val="25000"/>
              </a:srgbClr>
            </a:solidFill>
            <a:prstDash val="solid"/>
          </a:ln>
        </p:spPr>
      </p:sp>
      <p:sp>
        <p:nvSpPr>
          <p:cNvPr id="9" name="Text 6"/>
          <p:cNvSpPr/>
          <p:nvPr/>
        </p:nvSpPr>
        <p:spPr>
          <a:xfrm>
            <a:off x="1264920" y="4762500"/>
            <a:ext cx="3280715"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B5E1A"/>
                </a:solidFill>
                <a:latin typeface="Courier New" pitchFamily="34" charset="0"/>
                <a:ea typeface="Courier New" pitchFamily="34" charset="-122"/>
                <a:cs typeface="Courier New" pitchFamily="34" charset="-120"/>
              </a:rPr>
              <a:t>01 · TRAYECTORIA</a:t>
            </a:r>
            <a:endParaRPr lang="en-US" sz="825" dirty="0"/>
          </a:p>
        </p:txBody>
      </p:sp>
      <p:sp>
        <p:nvSpPr>
          <p:cNvPr id="10" name="Text 7"/>
          <p:cNvSpPr/>
          <p:nvPr/>
        </p:nvSpPr>
        <p:spPr>
          <a:xfrm>
            <a:off x="1264920" y="6747510"/>
            <a:ext cx="3280715" cy="1085850"/>
          </a:xfrm>
          <a:prstGeom prst="rect">
            <a:avLst/>
          </a:prstGeom>
          <a:noFill/>
          <a:ln/>
        </p:spPr>
        <p:txBody>
          <a:bodyPr wrap="square" lIns="25400" tIns="25400" rIns="25400" bIns="25400" rtlCol="0" anchor="t">
            <a:normAutofit/>
          </a:bodyPr>
          <a:lstStyle/>
          <a:p>
            <a:pPr algn="l" indent="0" marL="0">
              <a:lnSpc>
                <a:spcPct val="100000"/>
              </a:lnSpc>
              <a:buNone/>
            </a:pPr>
            <a:r>
              <a:rPr lang="en-US" sz="3450" b="1" baseline="30000" spc="83" kern="0" dirty="0">
                <a:solidFill>
                  <a:srgbClr val="8B5E1A"/>
                </a:solidFill>
                <a:latin typeface="Cinzel" pitchFamily="34" charset="0"/>
                <a:ea typeface="Cinzel" pitchFamily="34" charset="-122"/>
                <a:cs typeface="Cinzel" pitchFamily="34" charset="-120"/>
              </a:rPr>
              <a:t>+ </a:t>
            </a:r>
            <a:pPr algn="l" indent="0" marL="0">
              <a:lnSpc>
                <a:spcPct val="100000"/>
              </a:lnSpc>
              <a:buNone/>
            </a:pPr>
            <a:r>
              <a:rPr lang="en-US" sz="8250" b="1" spc="83" kern="0" dirty="0">
                <a:solidFill>
                  <a:srgbClr val="F4D773"/>
                </a:solidFill>
                <a:latin typeface="Cinzel" pitchFamily="34" charset="0"/>
                <a:ea typeface="Cinzel" pitchFamily="34" charset="-122"/>
                <a:cs typeface="Cinzel" pitchFamily="34" charset="-120"/>
              </a:rPr>
              <a:t>15</a:t>
            </a:r>
            <a:endParaRPr lang="en-US" sz="8250" dirty="0"/>
          </a:p>
        </p:txBody>
      </p:sp>
      <p:sp>
        <p:nvSpPr>
          <p:cNvPr id="11" name="Text 8"/>
          <p:cNvSpPr/>
          <p:nvPr/>
        </p:nvSpPr>
        <p:spPr>
          <a:xfrm>
            <a:off x="1264920" y="7795260"/>
            <a:ext cx="3280715" cy="434340"/>
          </a:xfrm>
          <a:prstGeom prst="rect">
            <a:avLst/>
          </a:prstGeom>
          <a:noFill/>
          <a:ln/>
        </p:spPr>
        <p:txBody>
          <a:bodyPr wrap="square" lIns="25400" tIns="25400" rIns="25400" bIns="25400" rtlCol="0" anchor="t">
            <a:normAutofit/>
          </a:bodyPr>
          <a:lstStyle/>
          <a:p>
            <a:pPr algn="l" indent="0" marL="0">
              <a:lnSpc>
                <a:spcPct val="160000"/>
              </a:lnSpc>
              <a:buNone/>
            </a:pPr>
            <a:r>
              <a:rPr lang="en-US" sz="975" spc="273" kern="0" dirty="0">
                <a:solidFill>
                  <a:srgbClr val="E7DDB8"/>
                </a:solidFill>
                <a:latin typeface="Montserrat" pitchFamily="34" charset="0"/>
                <a:ea typeface="Montserrat" pitchFamily="34" charset="-122"/>
                <a:cs typeface="Montserrat" pitchFamily="34" charset="-120"/>
              </a:rPr>
              <a:t>AÑOS DE EXPERIENCIA CONTINUA</a:t>
            </a:r>
            <a:endParaRPr lang="en-US" sz="975" dirty="0"/>
          </a:p>
        </p:txBody>
      </p:sp>
      <p:sp>
        <p:nvSpPr>
          <p:cNvPr id="12" name="Shape 9"/>
          <p:cNvSpPr/>
          <p:nvPr/>
        </p:nvSpPr>
        <p:spPr>
          <a:xfrm>
            <a:off x="5105400" y="4297680"/>
            <a:ext cx="3886200" cy="4358640"/>
          </a:xfrm>
          <a:prstGeom prst="rect">
            <a:avLst/>
          </a:prstGeom>
          <a:solidFill>
            <a:srgbClr val="D4AF37">
              <a:alpha val="3000"/>
            </a:srgbClr>
          </a:solidFill>
          <a:ln w="7620">
            <a:solidFill>
              <a:srgbClr val="D4AF37">
                <a:alpha val="25000"/>
              </a:srgbClr>
            </a:solidFill>
            <a:prstDash val="solid"/>
          </a:ln>
        </p:spPr>
      </p:sp>
      <p:sp>
        <p:nvSpPr>
          <p:cNvPr id="13" name="Text 10"/>
          <p:cNvSpPr/>
          <p:nvPr/>
        </p:nvSpPr>
        <p:spPr>
          <a:xfrm>
            <a:off x="5455920" y="4762500"/>
            <a:ext cx="3280715"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B5E1A"/>
                </a:solidFill>
                <a:latin typeface="Courier New" pitchFamily="34" charset="0"/>
                <a:ea typeface="Courier New" pitchFamily="34" charset="-122"/>
                <a:cs typeface="Courier New" pitchFamily="34" charset="-120"/>
              </a:rPr>
              <a:t>02 · PORTAFOLIO</a:t>
            </a:r>
            <a:endParaRPr lang="en-US" sz="825" dirty="0"/>
          </a:p>
        </p:txBody>
      </p:sp>
      <p:sp>
        <p:nvSpPr>
          <p:cNvPr id="14" name="Text 11"/>
          <p:cNvSpPr/>
          <p:nvPr/>
        </p:nvSpPr>
        <p:spPr>
          <a:xfrm>
            <a:off x="5455920" y="6747510"/>
            <a:ext cx="3280715" cy="1085850"/>
          </a:xfrm>
          <a:prstGeom prst="rect">
            <a:avLst/>
          </a:prstGeom>
          <a:noFill/>
          <a:ln/>
        </p:spPr>
        <p:txBody>
          <a:bodyPr wrap="square" lIns="25400" tIns="25400" rIns="25400" bIns="25400" rtlCol="0" anchor="t">
            <a:normAutofit/>
          </a:bodyPr>
          <a:lstStyle/>
          <a:p>
            <a:pPr algn="l" indent="0" marL="0">
              <a:lnSpc>
                <a:spcPct val="100000"/>
              </a:lnSpc>
              <a:buNone/>
            </a:pPr>
            <a:r>
              <a:rPr lang="en-US" sz="3450" b="1" baseline="30000" spc="83" kern="0" dirty="0">
                <a:solidFill>
                  <a:srgbClr val="8B5E1A"/>
                </a:solidFill>
                <a:latin typeface="Cinzel" pitchFamily="34" charset="0"/>
                <a:ea typeface="Cinzel" pitchFamily="34" charset="-122"/>
                <a:cs typeface="Cinzel" pitchFamily="34" charset="-120"/>
              </a:rPr>
              <a:t>+ </a:t>
            </a:r>
            <a:pPr algn="l" indent="0" marL="0">
              <a:lnSpc>
                <a:spcPct val="100000"/>
              </a:lnSpc>
              <a:buNone/>
            </a:pPr>
            <a:r>
              <a:rPr lang="en-US" sz="8250" b="1" spc="83" kern="0" dirty="0">
                <a:solidFill>
                  <a:srgbClr val="F4D773"/>
                </a:solidFill>
                <a:latin typeface="Cinzel" pitchFamily="34" charset="0"/>
                <a:ea typeface="Cinzel" pitchFamily="34" charset="-122"/>
                <a:cs typeface="Cinzel" pitchFamily="34" charset="-120"/>
              </a:rPr>
              <a:t>300</a:t>
            </a:r>
            <a:endParaRPr lang="en-US" sz="8250" dirty="0"/>
          </a:p>
        </p:txBody>
      </p:sp>
      <p:sp>
        <p:nvSpPr>
          <p:cNvPr id="15" name="Text 12"/>
          <p:cNvSpPr/>
          <p:nvPr/>
        </p:nvSpPr>
        <p:spPr>
          <a:xfrm>
            <a:off x="5455920" y="7795260"/>
            <a:ext cx="3280715" cy="434340"/>
          </a:xfrm>
          <a:prstGeom prst="rect">
            <a:avLst/>
          </a:prstGeom>
          <a:noFill/>
          <a:ln/>
        </p:spPr>
        <p:txBody>
          <a:bodyPr wrap="square" lIns="25400" tIns="25400" rIns="25400" bIns="25400" rtlCol="0" anchor="t">
            <a:normAutofit/>
          </a:bodyPr>
          <a:lstStyle/>
          <a:p>
            <a:pPr algn="l" indent="0" marL="0">
              <a:lnSpc>
                <a:spcPct val="160000"/>
              </a:lnSpc>
              <a:buNone/>
            </a:pPr>
            <a:r>
              <a:rPr lang="en-US" sz="975" spc="273" kern="0" dirty="0">
                <a:solidFill>
                  <a:srgbClr val="E7DDB8"/>
                </a:solidFill>
                <a:latin typeface="Montserrat" pitchFamily="34" charset="0"/>
                <a:ea typeface="Montserrat" pitchFamily="34" charset="-122"/>
                <a:cs typeface="Montserrat" pitchFamily="34" charset="-120"/>
              </a:rPr>
              <a:t>CLIENTES ACTIVOS EN CARTERA</a:t>
            </a:r>
            <a:endParaRPr lang="en-US" sz="975" dirty="0"/>
          </a:p>
        </p:txBody>
      </p:sp>
      <p:sp>
        <p:nvSpPr>
          <p:cNvPr id="16" name="Shape 13"/>
          <p:cNvSpPr/>
          <p:nvPr/>
        </p:nvSpPr>
        <p:spPr>
          <a:xfrm>
            <a:off x="9296400" y="4297680"/>
            <a:ext cx="3886200" cy="4358640"/>
          </a:xfrm>
          <a:prstGeom prst="rect">
            <a:avLst/>
          </a:prstGeom>
          <a:solidFill>
            <a:srgbClr val="D4AF37">
              <a:alpha val="3000"/>
            </a:srgbClr>
          </a:solidFill>
          <a:ln w="7620">
            <a:solidFill>
              <a:srgbClr val="D4AF37">
                <a:alpha val="25000"/>
              </a:srgbClr>
            </a:solidFill>
            <a:prstDash val="solid"/>
          </a:ln>
        </p:spPr>
      </p:sp>
      <p:sp>
        <p:nvSpPr>
          <p:cNvPr id="17" name="Text 14"/>
          <p:cNvSpPr/>
          <p:nvPr/>
        </p:nvSpPr>
        <p:spPr>
          <a:xfrm>
            <a:off x="9646920" y="4762500"/>
            <a:ext cx="3280715"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B5E1A"/>
                </a:solidFill>
                <a:latin typeface="Courier New" pitchFamily="34" charset="0"/>
                <a:ea typeface="Courier New" pitchFamily="34" charset="-122"/>
                <a:cs typeface="Courier New" pitchFamily="34" charset="-120"/>
              </a:rPr>
              <a:t>03 · EQUIPO</a:t>
            </a:r>
            <a:endParaRPr lang="en-US" sz="825" dirty="0"/>
          </a:p>
        </p:txBody>
      </p:sp>
      <p:sp>
        <p:nvSpPr>
          <p:cNvPr id="18" name="Text 15"/>
          <p:cNvSpPr/>
          <p:nvPr/>
        </p:nvSpPr>
        <p:spPr>
          <a:xfrm>
            <a:off x="9646920" y="6747510"/>
            <a:ext cx="3280715" cy="1085850"/>
          </a:xfrm>
          <a:prstGeom prst="rect">
            <a:avLst/>
          </a:prstGeom>
          <a:noFill/>
          <a:ln/>
        </p:spPr>
        <p:txBody>
          <a:bodyPr wrap="square" lIns="25400" tIns="25400" rIns="25400" bIns="25400" rtlCol="0" anchor="t">
            <a:normAutofit/>
          </a:bodyPr>
          <a:lstStyle/>
          <a:p>
            <a:pPr algn="l" indent="0" marL="0">
              <a:lnSpc>
                <a:spcPct val="100000"/>
              </a:lnSpc>
              <a:buNone/>
            </a:pPr>
            <a:r>
              <a:rPr lang="en-US" sz="3450" b="1" baseline="30000" spc="83" kern="0" dirty="0">
                <a:solidFill>
                  <a:srgbClr val="8B5E1A"/>
                </a:solidFill>
                <a:latin typeface="Cinzel" pitchFamily="34" charset="0"/>
                <a:ea typeface="Cinzel" pitchFamily="34" charset="-122"/>
                <a:cs typeface="Cinzel" pitchFamily="34" charset="-120"/>
              </a:rPr>
              <a:t>+ </a:t>
            </a:r>
            <a:pPr algn="l" indent="0" marL="0">
              <a:lnSpc>
                <a:spcPct val="100000"/>
              </a:lnSpc>
              <a:buNone/>
            </a:pPr>
            <a:r>
              <a:rPr lang="en-US" sz="8250" b="1" spc="83" kern="0" dirty="0">
                <a:solidFill>
                  <a:srgbClr val="F4D773"/>
                </a:solidFill>
                <a:latin typeface="Cinzel" pitchFamily="34" charset="0"/>
                <a:ea typeface="Cinzel" pitchFamily="34" charset="-122"/>
                <a:cs typeface="Cinzel" pitchFamily="34" charset="-120"/>
              </a:rPr>
              <a:t>25</a:t>
            </a:r>
            <a:endParaRPr lang="en-US" sz="8250" dirty="0"/>
          </a:p>
        </p:txBody>
      </p:sp>
      <p:sp>
        <p:nvSpPr>
          <p:cNvPr id="19" name="Text 16"/>
          <p:cNvSpPr/>
          <p:nvPr/>
        </p:nvSpPr>
        <p:spPr>
          <a:xfrm>
            <a:off x="9646920" y="7795260"/>
            <a:ext cx="3280715" cy="434340"/>
          </a:xfrm>
          <a:prstGeom prst="rect">
            <a:avLst/>
          </a:prstGeom>
          <a:noFill/>
          <a:ln/>
        </p:spPr>
        <p:txBody>
          <a:bodyPr wrap="square" lIns="25400" tIns="25400" rIns="25400" bIns="25400" rtlCol="0" anchor="t">
            <a:normAutofit/>
          </a:bodyPr>
          <a:lstStyle/>
          <a:p>
            <a:pPr algn="l" indent="0" marL="0">
              <a:lnSpc>
                <a:spcPct val="160000"/>
              </a:lnSpc>
              <a:buNone/>
            </a:pPr>
            <a:r>
              <a:rPr lang="en-US" sz="975" spc="273" kern="0" dirty="0">
                <a:solidFill>
                  <a:srgbClr val="E7DDB8"/>
                </a:solidFill>
                <a:latin typeface="Montserrat" pitchFamily="34" charset="0"/>
                <a:ea typeface="Montserrat" pitchFamily="34" charset="-122"/>
                <a:cs typeface="Montserrat" pitchFamily="34" charset="-120"/>
              </a:rPr>
              <a:t>PROFESIONALES CERTIFICADOS</a:t>
            </a:r>
            <a:endParaRPr lang="en-US" sz="975" dirty="0"/>
          </a:p>
        </p:txBody>
      </p:sp>
      <p:sp>
        <p:nvSpPr>
          <p:cNvPr id="20" name="Shape 17"/>
          <p:cNvSpPr/>
          <p:nvPr/>
        </p:nvSpPr>
        <p:spPr>
          <a:xfrm>
            <a:off x="13487400" y="4297680"/>
            <a:ext cx="3886200" cy="4358640"/>
          </a:xfrm>
          <a:prstGeom prst="rect">
            <a:avLst/>
          </a:prstGeom>
          <a:solidFill>
            <a:srgbClr val="D4AF37">
              <a:alpha val="3000"/>
            </a:srgbClr>
          </a:solidFill>
          <a:ln w="7620">
            <a:solidFill>
              <a:srgbClr val="D4AF37">
                <a:alpha val="25000"/>
              </a:srgbClr>
            </a:solidFill>
            <a:prstDash val="solid"/>
          </a:ln>
        </p:spPr>
      </p:sp>
      <p:sp>
        <p:nvSpPr>
          <p:cNvPr id="21" name="Text 18"/>
          <p:cNvSpPr/>
          <p:nvPr/>
        </p:nvSpPr>
        <p:spPr>
          <a:xfrm>
            <a:off x="13837920" y="4762500"/>
            <a:ext cx="3280715"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B5E1A"/>
                </a:solidFill>
                <a:latin typeface="Courier New" pitchFamily="34" charset="0"/>
                <a:ea typeface="Courier New" pitchFamily="34" charset="-122"/>
                <a:cs typeface="Courier New" pitchFamily="34" charset="-120"/>
              </a:rPr>
              <a:t>04 · CUMPLIMIENTO</a:t>
            </a:r>
            <a:endParaRPr lang="en-US" sz="825" dirty="0"/>
          </a:p>
        </p:txBody>
      </p:sp>
      <p:sp>
        <p:nvSpPr>
          <p:cNvPr id="22" name="Text 19"/>
          <p:cNvSpPr/>
          <p:nvPr/>
        </p:nvSpPr>
        <p:spPr>
          <a:xfrm>
            <a:off x="13837920" y="6747510"/>
            <a:ext cx="3280715" cy="1085850"/>
          </a:xfrm>
          <a:prstGeom prst="rect">
            <a:avLst/>
          </a:prstGeom>
          <a:noFill/>
          <a:ln/>
        </p:spPr>
        <p:txBody>
          <a:bodyPr wrap="square" lIns="25400" tIns="25400" rIns="25400" bIns="25400" rtlCol="0" anchor="t">
            <a:normAutofit/>
          </a:bodyPr>
          <a:lstStyle/>
          <a:p>
            <a:pPr algn="l" indent="0" marL="0">
              <a:lnSpc>
                <a:spcPct val="100000"/>
              </a:lnSpc>
              <a:buNone/>
            </a:pPr>
            <a:r>
              <a:rPr lang="en-US" sz="8250" b="1" spc="83" kern="0" dirty="0">
                <a:solidFill>
                  <a:srgbClr val="F4D773"/>
                </a:solidFill>
                <a:latin typeface="Cinzel" pitchFamily="34" charset="0"/>
                <a:ea typeface="Cinzel" pitchFamily="34" charset="-122"/>
                <a:cs typeface="Cinzel" pitchFamily="34" charset="-120"/>
              </a:rPr>
              <a:t>100</a:t>
            </a:r>
            <a:pPr algn="l" indent="0" marL="0">
              <a:lnSpc>
                <a:spcPct val="100000"/>
              </a:lnSpc>
              <a:buNone/>
            </a:pPr>
            <a:r>
              <a:rPr lang="en-US" sz="3750" b="1" spc="83" kern="0" dirty="0">
                <a:solidFill>
                  <a:srgbClr val="8B5E1A"/>
                </a:solidFill>
                <a:latin typeface="Cinzel" pitchFamily="34" charset="0"/>
                <a:ea typeface="Cinzel" pitchFamily="34" charset="-122"/>
                <a:cs typeface="Cinzel" pitchFamily="34" charset="-120"/>
              </a:rPr>
              <a:t>%</a:t>
            </a:r>
            <a:endParaRPr lang="en-US" sz="8250" dirty="0"/>
          </a:p>
        </p:txBody>
      </p:sp>
      <p:sp>
        <p:nvSpPr>
          <p:cNvPr id="23" name="Text 20"/>
          <p:cNvSpPr/>
          <p:nvPr/>
        </p:nvSpPr>
        <p:spPr>
          <a:xfrm>
            <a:off x="13837920" y="7795260"/>
            <a:ext cx="3280715" cy="434340"/>
          </a:xfrm>
          <a:prstGeom prst="rect">
            <a:avLst/>
          </a:prstGeom>
          <a:noFill/>
          <a:ln/>
        </p:spPr>
        <p:txBody>
          <a:bodyPr wrap="square" lIns="25400" tIns="25400" rIns="25400" bIns="25400" rtlCol="0" anchor="t">
            <a:normAutofit/>
          </a:bodyPr>
          <a:lstStyle/>
          <a:p>
            <a:pPr algn="l" indent="0" marL="0">
              <a:lnSpc>
                <a:spcPct val="160000"/>
              </a:lnSpc>
              <a:buNone/>
            </a:pPr>
            <a:r>
              <a:rPr lang="en-US" sz="975" spc="273" kern="0" dirty="0">
                <a:solidFill>
                  <a:srgbClr val="E7DDB8"/>
                </a:solidFill>
                <a:latin typeface="Montserrat" pitchFamily="34" charset="0"/>
                <a:ea typeface="Montserrat" pitchFamily="34" charset="-122"/>
                <a:cs typeface="Montserrat" pitchFamily="34" charset="-120"/>
              </a:rPr>
              <a:t>CUMPLIMIENTO DGII ÚLTIMO EJERCICIO</a:t>
            </a:r>
            <a:endParaRPr lang="en-US" sz="975" dirty="0"/>
          </a:p>
        </p:txBody>
      </p:sp>
      <p:sp>
        <p:nvSpPr>
          <p:cNvPr id="24" name="Text 21"/>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25" name="Text 22"/>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04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04 · SERVICIOS CORE</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Servicios contables.</a:t>
            </a:r>
            <a:endParaRPr lang="en-US" sz="6300" dirty="0"/>
          </a:p>
        </p:txBody>
      </p:sp>
      <p:sp>
        <p:nvSpPr>
          <p:cNvPr id="8" name="Text 5"/>
          <p:cNvSpPr/>
          <p:nvPr/>
        </p:nvSpPr>
        <p:spPr>
          <a:xfrm>
            <a:off x="914400" y="3095625"/>
            <a:ext cx="10791825"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El ciclo completo, con un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contador senior asignado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a cada cuenta.</a:t>
            </a:r>
            <a:endParaRPr lang="en-US" sz="1950" dirty="0"/>
          </a:p>
        </p:txBody>
      </p:sp>
      <p:sp>
        <p:nvSpPr>
          <p:cNvPr id="9" name="Shape 6"/>
          <p:cNvSpPr/>
          <p:nvPr/>
        </p:nvSpPr>
        <p:spPr>
          <a:xfrm>
            <a:off x="914400" y="4184333"/>
            <a:ext cx="5308521" cy="2796540"/>
          </a:xfrm>
          <a:prstGeom prst="rect">
            <a:avLst/>
          </a:prstGeom>
          <a:solidFill>
            <a:srgbClr val="F4D773">
              <a:alpha val="2000"/>
            </a:srgbClr>
          </a:solidFill>
          <a:ln w="7620">
            <a:solidFill>
              <a:srgbClr val="D4AF37">
                <a:alpha val="22000"/>
              </a:srgbClr>
            </a:solidFill>
            <a:prstDash val="solid"/>
          </a:ln>
        </p:spPr>
      </p:sp>
      <p:sp>
        <p:nvSpPr>
          <p:cNvPr id="10" name="Shape 7"/>
          <p:cNvSpPr/>
          <p:nvPr/>
        </p:nvSpPr>
        <p:spPr>
          <a:xfrm>
            <a:off x="1207770" y="4534853"/>
            <a:ext cx="434340" cy="434340"/>
          </a:xfrm>
          <a:prstGeom prst="rect">
            <a:avLst/>
          </a:prstGeom>
          <a:ln w="7620">
            <a:solidFill>
              <a:srgbClr val="D4AF37"/>
            </a:solidFill>
            <a:prstDash val="solid"/>
          </a:ln>
        </p:spPr>
      </p:sp>
      <p:sp>
        <p:nvSpPr>
          <p:cNvPr id="11" name="Text 8"/>
          <p:cNvSpPr/>
          <p:nvPr/>
        </p:nvSpPr>
        <p:spPr>
          <a:xfrm>
            <a:off x="1177290" y="454247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01</a:t>
            </a:r>
            <a:endParaRPr lang="en-US" sz="1050" dirty="0"/>
          </a:p>
        </p:txBody>
      </p:sp>
      <p:sp>
        <p:nvSpPr>
          <p:cNvPr id="12" name="Text 9"/>
          <p:cNvSpPr/>
          <p:nvPr/>
        </p:nvSpPr>
        <p:spPr>
          <a:xfrm>
            <a:off x="1207770" y="5102543"/>
            <a:ext cx="4863434"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Contabilidad General</a:t>
            </a:r>
            <a:endParaRPr lang="en-US" sz="1800" dirty="0"/>
          </a:p>
        </p:txBody>
      </p:sp>
      <p:sp>
        <p:nvSpPr>
          <p:cNvPr id="13" name="Text 10"/>
          <p:cNvSpPr/>
          <p:nvPr/>
        </p:nvSpPr>
        <p:spPr>
          <a:xfrm>
            <a:off x="1207770" y="5498782"/>
            <a:ext cx="4863434"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Registros mensuales bajo NIIF · Plan de cuentas multi-moneda · Cierres trimestrales.</a:t>
            </a:r>
            <a:endParaRPr lang="en-US" sz="1125" dirty="0"/>
          </a:p>
        </p:txBody>
      </p:sp>
      <p:sp>
        <p:nvSpPr>
          <p:cNvPr id="14" name="Shape 11"/>
          <p:cNvSpPr/>
          <p:nvPr/>
        </p:nvSpPr>
        <p:spPr>
          <a:xfrm>
            <a:off x="6489621" y="4184333"/>
            <a:ext cx="5308640" cy="2796540"/>
          </a:xfrm>
          <a:prstGeom prst="rect">
            <a:avLst/>
          </a:prstGeom>
          <a:solidFill>
            <a:srgbClr val="F4D773">
              <a:alpha val="2000"/>
            </a:srgbClr>
          </a:solidFill>
          <a:ln w="7620">
            <a:solidFill>
              <a:srgbClr val="D4AF37">
                <a:alpha val="22000"/>
              </a:srgbClr>
            </a:solidFill>
            <a:prstDash val="solid"/>
          </a:ln>
        </p:spPr>
      </p:sp>
      <p:sp>
        <p:nvSpPr>
          <p:cNvPr id="15" name="Shape 12"/>
          <p:cNvSpPr/>
          <p:nvPr/>
        </p:nvSpPr>
        <p:spPr>
          <a:xfrm>
            <a:off x="6782991" y="4534853"/>
            <a:ext cx="434340" cy="434340"/>
          </a:xfrm>
          <a:prstGeom prst="rect">
            <a:avLst/>
          </a:prstGeom>
          <a:ln w="7620">
            <a:solidFill>
              <a:srgbClr val="D4AF37"/>
            </a:solidFill>
            <a:prstDash val="solid"/>
          </a:ln>
        </p:spPr>
      </p:sp>
      <p:sp>
        <p:nvSpPr>
          <p:cNvPr id="16" name="Text 13"/>
          <p:cNvSpPr/>
          <p:nvPr/>
        </p:nvSpPr>
        <p:spPr>
          <a:xfrm>
            <a:off x="6752511" y="454247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02</a:t>
            </a:r>
            <a:endParaRPr lang="en-US" sz="1050" dirty="0"/>
          </a:p>
        </p:txBody>
      </p:sp>
      <p:sp>
        <p:nvSpPr>
          <p:cNvPr id="17" name="Text 14"/>
          <p:cNvSpPr/>
          <p:nvPr/>
        </p:nvSpPr>
        <p:spPr>
          <a:xfrm>
            <a:off x="6782991" y="5102543"/>
            <a:ext cx="48635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Estados Financieros</a:t>
            </a:r>
            <a:endParaRPr lang="en-US" sz="1800" dirty="0"/>
          </a:p>
        </p:txBody>
      </p:sp>
      <p:sp>
        <p:nvSpPr>
          <p:cNvPr id="18" name="Text 15"/>
          <p:cNvSpPr/>
          <p:nvPr/>
        </p:nvSpPr>
        <p:spPr>
          <a:xfrm>
            <a:off x="6782991" y="5498782"/>
            <a:ext cx="4863557"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Balance General · Estado de Resultados · Flujo de Efectivo · Notas a los EE.FF.</a:t>
            </a:r>
            <a:endParaRPr lang="en-US" sz="1125" dirty="0"/>
          </a:p>
        </p:txBody>
      </p:sp>
      <p:sp>
        <p:nvSpPr>
          <p:cNvPr id="19" name="Shape 16"/>
          <p:cNvSpPr/>
          <p:nvPr/>
        </p:nvSpPr>
        <p:spPr>
          <a:xfrm>
            <a:off x="12064960" y="4184333"/>
            <a:ext cx="5308640" cy="2796540"/>
          </a:xfrm>
          <a:prstGeom prst="rect">
            <a:avLst/>
          </a:prstGeom>
          <a:solidFill>
            <a:srgbClr val="F4D773">
              <a:alpha val="2000"/>
            </a:srgbClr>
          </a:solidFill>
          <a:ln w="7620">
            <a:solidFill>
              <a:srgbClr val="D4AF37">
                <a:alpha val="22000"/>
              </a:srgbClr>
            </a:solidFill>
            <a:prstDash val="solid"/>
          </a:ln>
        </p:spPr>
      </p:sp>
      <p:sp>
        <p:nvSpPr>
          <p:cNvPr id="20" name="Shape 17"/>
          <p:cNvSpPr/>
          <p:nvPr/>
        </p:nvSpPr>
        <p:spPr>
          <a:xfrm>
            <a:off x="12358331" y="4534853"/>
            <a:ext cx="434340" cy="434340"/>
          </a:xfrm>
          <a:prstGeom prst="rect">
            <a:avLst/>
          </a:prstGeom>
          <a:ln w="7620">
            <a:solidFill>
              <a:srgbClr val="D4AF37"/>
            </a:solidFill>
            <a:prstDash val="solid"/>
          </a:ln>
        </p:spPr>
      </p:sp>
      <p:sp>
        <p:nvSpPr>
          <p:cNvPr id="21" name="Text 18"/>
          <p:cNvSpPr/>
          <p:nvPr/>
        </p:nvSpPr>
        <p:spPr>
          <a:xfrm>
            <a:off x="12327851" y="454247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03</a:t>
            </a:r>
            <a:endParaRPr lang="en-US" sz="1050" dirty="0"/>
          </a:p>
        </p:txBody>
      </p:sp>
      <p:sp>
        <p:nvSpPr>
          <p:cNvPr id="22" name="Text 19"/>
          <p:cNvSpPr/>
          <p:nvPr/>
        </p:nvSpPr>
        <p:spPr>
          <a:xfrm>
            <a:off x="12358331" y="5102543"/>
            <a:ext cx="48635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Conciliaciones Bancarias</a:t>
            </a:r>
            <a:endParaRPr lang="en-US" sz="1800" dirty="0"/>
          </a:p>
        </p:txBody>
      </p:sp>
      <p:sp>
        <p:nvSpPr>
          <p:cNvPr id="23" name="Text 20"/>
          <p:cNvSpPr/>
          <p:nvPr/>
        </p:nvSpPr>
        <p:spPr>
          <a:xfrm>
            <a:off x="12358331" y="5498782"/>
            <a:ext cx="4863557"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Conciliación mensual multi-cuenta · Reportes de partidas pendientes · Validación con banco.</a:t>
            </a:r>
            <a:endParaRPr lang="en-US" sz="1125" dirty="0"/>
          </a:p>
        </p:txBody>
      </p:sp>
      <p:sp>
        <p:nvSpPr>
          <p:cNvPr id="24" name="Shape 21"/>
          <p:cNvSpPr/>
          <p:nvPr/>
        </p:nvSpPr>
        <p:spPr>
          <a:xfrm>
            <a:off x="914400" y="7247573"/>
            <a:ext cx="5308521" cy="2796540"/>
          </a:xfrm>
          <a:prstGeom prst="rect">
            <a:avLst/>
          </a:prstGeom>
          <a:solidFill>
            <a:srgbClr val="F4D773">
              <a:alpha val="2000"/>
            </a:srgbClr>
          </a:solidFill>
          <a:ln w="7620">
            <a:solidFill>
              <a:srgbClr val="D4AF37">
                <a:alpha val="22000"/>
              </a:srgbClr>
            </a:solidFill>
            <a:prstDash val="solid"/>
          </a:ln>
        </p:spPr>
      </p:sp>
      <p:sp>
        <p:nvSpPr>
          <p:cNvPr id="25" name="Shape 22"/>
          <p:cNvSpPr/>
          <p:nvPr/>
        </p:nvSpPr>
        <p:spPr>
          <a:xfrm>
            <a:off x="1207770" y="7598093"/>
            <a:ext cx="434340" cy="434340"/>
          </a:xfrm>
          <a:prstGeom prst="rect">
            <a:avLst/>
          </a:prstGeom>
          <a:ln w="7620">
            <a:solidFill>
              <a:srgbClr val="D4AF37"/>
            </a:solidFill>
            <a:prstDash val="solid"/>
          </a:ln>
        </p:spPr>
      </p:sp>
      <p:sp>
        <p:nvSpPr>
          <p:cNvPr id="26" name="Text 23"/>
          <p:cNvSpPr/>
          <p:nvPr/>
        </p:nvSpPr>
        <p:spPr>
          <a:xfrm>
            <a:off x="1177290" y="760571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04</a:t>
            </a:r>
            <a:endParaRPr lang="en-US" sz="1050" dirty="0"/>
          </a:p>
        </p:txBody>
      </p:sp>
      <p:sp>
        <p:nvSpPr>
          <p:cNvPr id="27" name="Text 24"/>
          <p:cNvSpPr/>
          <p:nvPr/>
        </p:nvSpPr>
        <p:spPr>
          <a:xfrm>
            <a:off x="1207770" y="8165782"/>
            <a:ext cx="4863434"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Outsourcing Contable</a:t>
            </a:r>
            <a:endParaRPr lang="en-US" sz="1800" dirty="0"/>
          </a:p>
        </p:txBody>
      </p:sp>
      <p:sp>
        <p:nvSpPr>
          <p:cNvPr id="28" name="Text 25"/>
          <p:cNvSpPr/>
          <p:nvPr/>
        </p:nvSpPr>
        <p:spPr>
          <a:xfrm>
            <a:off x="1207770" y="8562023"/>
            <a:ext cx="4863434"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Departamento contable externalizado · Sin overhead fijo · Equipo escalable según volumen.</a:t>
            </a:r>
            <a:endParaRPr lang="en-US" sz="1125" dirty="0"/>
          </a:p>
        </p:txBody>
      </p:sp>
      <p:sp>
        <p:nvSpPr>
          <p:cNvPr id="29" name="Shape 26"/>
          <p:cNvSpPr/>
          <p:nvPr/>
        </p:nvSpPr>
        <p:spPr>
          <a:xfrm>
            <a:off x="6489621" y="7247573"/>
            <a:ext cx="5308640" cy="2796540"/>
          </a:xfrm>
          <a:prstGeom prst="rect">
            <a:avLst/>
          </a:prstGeom>
          <a:solidFill>
            <a:srgbClr val="F4D773">
              <a:alpha val="2000"/>
            </a:srgbClr>
          </a:solidFill>
          <a:ln w="7620">
            <a:solidFill>
              <a:srgbClr val="D4AF37">
                <a:alpha val="22000"/>
              </a:srgbClr>
            </a:solidFill>
            <a:prstDash val="solid"/>
          </a:ln>
        </p:spPr>
      </p:sp>
      <p:sp>
        <p:nvSpPr>
          <p:cNvPr id="30" name="Shape 27"/>
          <p:cNvSpPr/>
          <p:nvPr/>
        </p:nvSpPr>
        <p:spPr>
          <a:xfrm>
            <a:off x="6782991" y="7598093"/>
            <a:ext cx="434340" cy="434340"/>
          </a:xfrm>
          <a:prstGeom prst="rect">
            <a:avLst/>
          </a:prstGeom>
          <a:ln w="7620">
            <a:solidFill>
              <a:srgbClr val="D4AF37"/>
            </a:solidFill>
            <a:prstDash val="solid"/>
          </a:ln>
        </p:spPr>
      </p:sp>
      <p:sp>
        <p:nvSpPr>
          <p:cNvPr id="31" name="Text 28"/>
          <p:cNvSpPr/>
          <p:nvPr/>
        </p:nvSpPr>
        <p:spPr>
          <a:xfrm>
            <a:off x="6752511" y="760571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05</a:t>
            </a:r>
            <a:endParaRPr lang="en-US" sz="1050" dirty="0"/>
          </a:p>
        </p:txBody>
      </p:sp>
      <p:sp>
        <p:nvSpPr>
          <p:cNvPr id="32" name="Text 29"/>
          <p:cNvSpPr/>
          <p:nvPr/>
        </p:nvSpPr>
        <p:spPr>
          <a:xfrm>
            <a:off x="6782991" y="8165782"/>
            <a:ext cx="48635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Reestructuración Financiera</a:t>
            </a:r>
            <a:endParaRPr lang="en-US" sz="1800" dirty="0"/>
          </a:p>
        </p:txBody>
      </p:sp>
      <p:sp>
        <p:nvSpPr>
          <p:cNvPr id="33" name="Text 30"/>
          <p:cNvSpPr/>
          <p:nvPr/>
        </p:nvSpPr>
        <p:spPr>
          <a:xfrm>
            <a:off x="6782991" y="8562023"/>
            <a:ext cx="4863557"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Diagnóstico contable · Plan de turnaround · Acompañamiento ejecutivo trimestral.</a:t>
            </a:r>
            <a:endParaRPr lang="en-US" sz="1125" dirty="0"/>
          </a:p>
        </p:txBody>
      </p:sp>
      <p:sp>
        <p:nvSpPr>
          <p:cNvPr id="34" name="Shape 31"/>
          <p:cNvSpPr/>
          <p:nvPr/>
        </p:nvSpPr>
        <p:spPr>
          <a:xfrm>
            <a:off x="12064960" y="7247573"/>
            <a:ext cx="5308640" cy="2796540"/>
          </a:xfrm>
          <a:prstGeom prst="rect">
            <a:avLst/>
          </a:prstGeom>
          <a:solidFill>
            <a:srgbClr val="F4D773">
              <a:alpha val="2000"/>
            </a:srgbClr>
          </a:solidFill>
          <a:ln w="7620">
            <a:solidFill>
              <a:srgbClr val="D4AF37">
                <a:alpha val="22000"/>
              </a:srgbClr>
            </a:solidFill>
            <a:prstDash val="solid"/>
          </a:ln>
        </p:spPr>
      </p:sp>
      <p:sp>
        <p:nvSpPr>
          <p:cNvPr id="35" name="Shape 32"/>
          <p:cNvSpPr/>
          <p:nvPr/>
        </p:nvSpPr>
        <p:spPr>
          <a:xfrm>
            <a:off x="12358331" y="7598093"/>
            <a:ext cx="434340" cy="434340"/>
          </a:xfrm>
          <a:prstGeom prst="rect">
            <a:avLst/>
          </a:prstGeom>
          <a:ln w="7620">
            <a:solidFill>
              <a:srgbClr val="D4AF37"/>
            </a:solidFill>
            <a:prstDash val="solid"/>
          </a:ln>
        </p:spPr>
      </p:sp>
      <p:sp>
        <p:nvSpPr>
          <p:cNvPr id="36" name="Text 33"/>
          <p:cNvSpPr/>
          <p:nvPr/>
        </p:nvSpPr>
        <p:spPr>
          <a:xfrm>
            <a:off x="12327851" y="7605713"/>
            <a:ext cx="495300" cy="457200"/>
          </a:xfrm>
          <a:prstGeom prst="rect">
            <a:avLst/>
          </a:prstGeom>
          <a:noFill/>
          <a:ln/>
        </p:spPr>
        <p:txBody>
          <a:bodyPr wrap="square" lIns="25400" tIns="25400" rIns="25400" bIns="25400" rtlCol="0" anchor="ctr">
            <a:normAutofit/>
          </a:bodyPr>
          <a:lstStyle/>
          <a:p>
            <a:pPr algn="ctr" indent="0" marL="0">
              <a:buNone/>
            </a:pPr>
            <a:r>
              <a:rPr lang="en-US" sz="1050" spc="42" kern="0" dirty="0">
                <a:solidFill>
                  <a:srgbClr val="F4D773"/>
                </a:solidFill>
                <a:latin typeface="Courier New" pitchFamily="34" charset="0"/>
                <a:ea typeface="Courier New" pitchFamily="34" charset="-122"/>
                <a:cs typeface="Courier New" pitchFamily="34" charset="-120"/>
              </a:rPr>
              <a:t>06</a:t>
            </a:r>
            <a:endParaRPr lang="en-US" sz="1050" dirty="0"/>
          </a:p>
        </p:txBody>
      </p:sp>
      <p:sp>
        <p:nvSpPr>
          <p:cNvPr id="37" name="Text 34"/>
          <p:cNvSpPr/>
          <p:nvPr/>
        </p:nvSpPr>
        <p:spPr>
          <a:xfrm>
            <a:off x="12358331" y="8165782"/>
            <a:ext cx="48635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spc="36" kern="0" dirty="0">
                <a:solidFill>
                  <a:srgbClr val="F4D773"/>
                </a:solidFill>
                <a:latin typeface="Cinzel" pitchFamily="34" charset="0"/>
                <a:ea typeface="Cinzel" pitchFamily="34" charset="-122"/>
                <a:cs typeface="Cinzel" pitchFamily="34" charset="-120"/>
              </a:rPr>
              <a:t>Consultoría Laboral</a:t>
            </a:r>
            <a:endParaRPr lang="en-US" sz="1800" dirty="0"/>
          </a:p>
        </p:txBody>
      </p:sp>
      <p:sp>
        <p:nvSpPr>
          <p:cNvPr id="38" name="Text 35"/>
          <p:cNvSpPr/>
          <p:nvPr/>
        </p:nvSpPr>
        <p:spPr>
          <a:xfrm>
            <a:off x="12358331" y="8562023"/>
            <a:ext cx="4863557" cy="481012"/>
          </a:xfrm>
          <a:prstGeom prst="rect">
            <a:avLst/>
          </a:prstGeom>
          <a:noFill/>
          <a:ln/>
        </p:spPr>
        <p:txBody>
          <a:bodyPr wrap="square" lIns="25400" tIns="25400" rIns="25400" bIns="25400" rtlCol="0" anchor="t">
            <a:normAutofit/>
          </a:bodyPr>
          <a:lstStyle/>
          <a:p>
            <a:pPr algn="l" indent="0" marL="0">
              <a:lnSpc>
                <a:spcPct val="155000"/>
              </a:lnSpc>
              <a:buNone/>
            </a:pPr>
            <a:r>
              <a:rPr lang="en-US" sz="1125" dirty="0">
                <a:solidFill>
                  <a:srgbClr val="BCB29A"/>
                </a:solidFill>
                <a:latin typeface="Inter" pitchFamily="34" charset="0"/>
                <a:ea typeface="Inter" pitchFamily="34" charset="-122"/>
                <a:cs typeface="Inter" pitchFamily="34" charset="-120"/>
              </a:rPr>
              <a:t>Estructuración salarial · Beneficios CTS · Compliance Ministerio Trabajo.</a:t>
            </a:r>
            <a:endParaRPr lang="en-US" sz="1125" dirty="0"/>
          </a:p>
        </p:txBody>
      </p:sp>
      <p:sp>
        <p:nvSpPr>
          <p:cNvPr id="39" name="Text 36"/>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40" name="Text 37"/>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05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05 · CUMPLIMIENTO DGII</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Declaraciones fiscales.</a:t>
            </a:r>
            <a:endParaRPr lang="en-US" sz="6300" dirty="0"/>
          </a:p>
        </p:txBody>
      </p:sp>
      <p:sp>
        <p:nvSpPr>
          <p:cNvPr id="8" name="Shape 5"/>
          <p:cNvSpPr/>
          <p:nvPr/>
        </p:nvSpPr>
        <p:spPr>
          <a:xfrm>
            <a:off x="914400" y="3712845"/>
            <a:ext cx="6254472" cy="9525"/>
          </a:xfrm>
          <a:prstGeom prst="rect">
            <a:avLst/>
          </a:prstGeom>
          <a:solidFill>
            <a:srgbClr val="D4AF37"/>
          </a:solidFill>
          <a:ln/>
        </p:spPr>
      </p:sp>
      <p:sp>
        <p:nvSpPr>
          <p:cNvPr id="9" name="Text 6"/>
          <p:cNvSpPr/>
          <p:nvPr/>
        </p:nvSpPr>
        <p:spPr>
          <a:xfrm>
            <a:off x="1123950" y="3400425"/>
            <a:ext cx="6023006" cy="179070"/>
          </a:xfrm>
          <a:prstGeom prst="rect">
            <a:avLst/>
          </a:prstGeom>
          <a:noFill/>
          <a:ln/>
        </p:spPr>
        <p:txBody>
          <a:bodyPr wrap="square" lIns="25400" tIns="25400" rIns="25400" bIns="25400" rtlCol="0" anchor="ctr">
            <a:normAutofit/>
          </a:bodyPr>
          <a:lstStyle/>
          <a:p>
            <a:pPr algn="l" indent="0" marL="0">
              <a:buNone/>
            </a:pPr>
            <a:r>
              <a:rPr lang="en-US" sz="900" b="1" spc="216" kern="0" dirty="0">
                <a:solidFill>
                  <a:srgbClr val="8B5E1A"/>
                </a:solidFill>
                <a:latin typeface="Montserrat" pitchFamily="34" charset="0"/>
                <a:ea typeface="Montserrat" pitchFamily="34" charset="-122"/>
                <a:cs typeface="Montserrat" pitchFamily="34" charset="-120"/>
              </a:rPr>
              <a:t>DECLARACIÓN</a:t>
            </a:r>
            <a:endParaRPr lang="en-US" sz="900" dirty="0"/>
          </a:p>
        </p:txBody>
      </p:sp>
      <p:sp>
        <p:nvSpPr>
          <p:cNvPr id="10" name="Shape 7"/>
          <p:cNvSpPr/>
          <p:nvPr/>
        </p:nvSpPr>
        <p:spPr>
          <a:xfrm>
            <a:off x="7168872" y="3712845"/>
            <a:ext cx="2727722" cy="9525"/>
          </a:xfrm>
          <a:prstGeom prst="rect">
            <a:avLst/>
          </a:prstGeom>
          <a:solidFill>
            <a:srgbClr val="D4AF37"/>
          </a:solidFill>
          <a:ln/>
        </p:spPr>
      </p:sp>
      <p:sp>
        <p:nvSpPr>
          <p:cNvPr id="11" name="Text 8"/>
          <p:cNvSpPr/>
          <p:nvPr/>
        </p:nvSpPr>
        <p:spPr>
          <a:xfrm>
            <a:off x="7378422" y="3400425"/>
            <a:ext cx="2390454" cy="179070"/>
          </a:xfrm>
          <a:prstGeom prst="rect">
            <a:avLst/>
          </a:prstGeom>
          <a:noFill/>
          <a:ln/>
        </p:spPr>
        <p:txBody>
          <a:bodyPr wrap="square" lIns="25400" tIns="25400" rIns="25400" bIns="25400" rtlCol="0" anchor="ctr">
            <a:normAutofit/>
          </a:bodyPr>
          <a:lstStyle/>
          <a:p>
            <a:pPr algn="l" indent="0" marL="0">
              <a:buNone/>
            </a:pPr>
            <a:r>
              <a:rPr lang="en-US" sz="900" b="1" spc="216" kern="0" dirty="0">
                <a:solidFill>
                  <a:srgbClr val="8B5E1A"/>
                </a:solidFill>
                <a:latin typeface="Montserrat" pitchFamily="34" charset="0"/>
                <a:ea typeface="Montserrat" pitchFamily="34" charset="-122"/>
                <a:cs typeface="Montserrat" pitchFamily="34" charset="-120"/>
              </a:rPr>
              <a:t>PERIODICIDAD</a:t>
            </a:r>
            <a:endParaRPr lang="en-US" sz="900" dirty="0"/>
          </a:p>
        </p:txBody>
      </p:sp>
      <p:sp>
        <p:nvSpPr>
          <p:cNvPr id="12" name="Shape 9"/>
          <p:cNvSpPr/>
          <p:nvPr/>
        </p:nvSpPr>
        <p:spPr>
          <a:xfrm>
            <a:off x="9896595" y="3712845"/>
            <a:ext cx="3585448" cy="9525"/>
          </a:xfrm>
          <a:prstGeom prst="rect">
            <a:avLst/>
          </a:prstGeom>
          <a:solidFill>
            <a:srgbClr val="D4AF37"/>
          </a:solidFill>
          <a:ln/>
        </p:spPr>
      </p:sp>
      <p:sp>
        <p:nvSpPr>
          <p:cNvPr id="13" name="Text 10"/>
          <p:cNvSpPr/>
          <p:nvPr/>
        </p:nvSpPr>
        <p:spPr>
          <a:xfrm>
            <a:off x="10106145" y="3400425"/>
            <a:ext cx="3273912" cy="179070"/>
          </a:xfrm>
          <a:prstGeom prst="rect">
            <a:avLst/>
          </a:prstGeom>
          <a:noFill/>
          <a:ln/>
        </p:spPr>
        <p:txBody>
          <a:bodyPr wrap="square" lIns="25400" tIns="25400" rIns="25400" bIns="25400" rtlCol="0" anchor="ctr">
            <a:normAutofit/>
          </a:bodyPr>
          <a:lstStyle/>
          <a:p>
            <a:pPr algn="l" indent="0" marL="0">
              <a:buNone/>
            </a:pPr>
            <a:r>
              <a:rPr lang="en-US" sz="900" b="1" spc="216" kern="0" dirty="0">
                <a:solidFill>
                  <a:srgbClr val="8B5E1A"/>
                </a:solidFill>
                <a:latin typeface="Montserrat" pitchFamily="34" charset="0"/>
                <a:ea typeface="Montserrat" pitchFamily="34" charset="-122"/>
                <a:cs typeface="Montserrat" pitchFamily="34" charset="-120"/>
              </a:rPr>
              <a:t>PLAZO DGII</a:t>
            </a:r>
            <a:endParaRPr lang="en-US" sz="900" dirty="0"/>
          </a:p>
        </p:txBody>
      </p:sp>
      <p:sp>
        <p:nvSpPr>
          <p:cNvPr id="14" name="Shape 11"/>
          <p:cNvSpPr/>
          <p:nvPr/>
        </p:nvSpPr>
        <p:spPr>
          <a:xfrm>
            <a:off x="13482042" y="3712845"/>
            <a:ext cx="3891558" cy="9525"/>
          </a:xfrm>
          <a:prstGeom prst="rect">
            <a:avLst/>
          </a:prstGeom>
          <a:solidFill>
            <a:srgbClr val="D4AF37"/>
          </a:solidFill>
          <a:ln/>
        </p:spPr>
      </p:sp>
      <p:sp>
        <p:nvSpPr>
          <p:cNvPr id="15" name="Text 12"/>
          <p:cNvSpPr/>
          <p:nvPr/>
        </p:nvSpPr>
        <p:spPr>
          <a:xfrm>
            <a:off x="13691592" y="3400425"/>
            <a:ext cx="3589205" cy="179070"/>
          </a:xfrm>
          <a:prstGeom prst="rect">
            <a:avLst/>
          </a:prstGeom>
          <a:noFill/>
          <a:ln/>
        </p:spPr>
        <p:txBody>
          <a:bodyPr wrap="square" lIns="25400" tIns="25400" rIns="25400" bIns="25400" rtlCol="0" anchor="ctr">
            <a:normAutofit/>
          </a:bodyPr>
          <a:lstStyle/>
          <a:p>
            <a:pPr algn="l" indent="0" marL="0">
              <a:buNone/>
            </a:pPr>
            <a:r>
              <a:rPr lang="en-US" sz="900" b="1" spc="216" kern="0" dirty="0">
                <a:solidFill>
                  <a:srgbClr val="8B5E1A"/>
                </a:solidFill>
                <a:latin typeface="Montserrat" pitchFamily="34" charset="0"/>
                <a:ea typeface="Montserrat" pitchFamily="34" charset="-122"/>
                <a:cs typeface="Montserrat" pitchFamily="34" charset="-120"/>
              </a:rPr>
              <a:t>VENCIMIENTO TÍPICO</a:t>
            </a:r>
            <a:endParaRPr lang="en-US" sz="900" dirty="0"/>
          </a:p>
        </p:txBody>
      </p:sp>
      <p:sp>
        <p:nvSpPr>
          <p:cNvPr id="16" name="Shape 13"/>
          <p:cNvSpPr/>
          <p:nvPr/>
        </p:nvSpPr>
        <p:spPr>
          <a:xfrm>
            <a:off x="914400" y="4642485"/>
            <a:ext cx="6254472" cy="9525"/>
          </a:xfrm>
          <a:prstGeom prst="rect">
            <a:avLst/>
          </a:prstGeom>
          <a:solidFill>
            <a:srgbClr val="D4AF37">
              <a:alpha val="14000"/>
            </a:srgbClr>
          </a:solidFill>
          <a:ln/>
        </p:spPr>
      </p:sp>
      <p:sp>
        <p:nvSpPr>
          <p:cNvPr id="17" name="Text 14"/>
          <p:cNvSpPr/>
          <p:nvPr/>
        </p:nvSpPr>
        <p:spPr>
          <a:xfrm>
            <a:off x="1123950" y="3952875"/>
            <a:ext cx="612338" cy="320040"/>
          </a:xfrm>
          <a:prstGeom prst="rect">
            <a:avLst/>
          </a:prstGeom>
          <a:noFill/>
          <a:ln/>
        </p:spPr>
        <p:txBody>
          <a:bodyPr wrap="square" lIns="0" tIns="0" rIns="0" bIns="0" rtlCol="0" anchor="t">
            <a:normAutofit/>
          </a:bodyPr>
          <a:lstStyle/>
          <a:p>
            <a:pPr algn="l" indent="0" marL="0">
              <a:buNone/>
            </a:pPr>
            <a:r>
              <a:rPr lang="en-US" sz="1650" spc="33" kern="0" dirty="0">
                <a:solidFill>
                  <a:srgbClr val="F4D773"/>
                </a:solidFill>
                <a:latin typeface="Cinzel" pitchFamily="34" charset="0"/>
                <a:ea typeface="Cinzel" pitchFamily="34" charset="-122"/>
                <a:cs typeface="Cinzel" pitchFamily="34" charset="-120"/>
              </a:rPr>
              <a:t>ITBIS</a:t>
            </a:r>
            <a:endParaRPr lang="en-US" sz="1650" dirty="0"/>
          </a:p>
        </p:txBody>
      </p:sp>
      <p:sp>
        <p:nvSpPr>
          <p:cNvPr id="18" name="Text 15"/>
          <p:cNvSpPr/>
          <p:nvPr/>
        </p:nvSpPr>
        <p:spPr>
          <a:xfrm>
            <a:off x="1123950" y="4272915"/>
            <a:ext cx="6010433" cy="182880"/>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B5E1A"/>
                </a:solidFill>
                <a:latin typeface="Courier New" pitchFamily="34" charset="0"/>
                <a:ea typeface="Courier New" pitchFamily="34" charset="-122"/>
                <a:cs typeface="Courier New" pitchFamily="34" charset="-120"/>
              </a:rPr>
              <a:t>FORM. IT-1</a:t>
            </a:r>
            <a:endParaRPr lang="en-US" sz="975" dirty="0"/>
          </a:p>
        </p:txBody>
      </p:sp>
      <p:sp>
        <p:nvSpPr>
          <p:cNvPr id="19" name="Shape 16"/>
          <p:cNvSpPr/>
          <p:nvPr/>
        </p:nvSpPr>
        <p:spPr>
          <a:xfrm>
            <a:off x="7168872" y="4642485"/>
            <a:ext cx="2727722" cy="9525"/>
          </a:xfrm>
          <a:prstGeom prst="rect">
            <a:avLst/>
          </a:prstGeom>
          <a:solidFill>
            <a:srgbClr val="D4AF37">
              <a:alpha val="14000"/>
            </a:srgbClr>
          </a:solidFill>
          <a:ln/>
        </p:spPr>
      </p:sp>
      <p:sp>
        <p:nvSpPr>
          <p:cNvPr id="20" name="Text 17"/>
          <p:cNvSpPr/>
          <p:nvPr/>
        </p:nvSpPr>
        <p:spPr>
          <a:xfrm>
            <a:off x="7378422" y="3949065"/>
            <a:ext cx="2390454"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Mensual</a:t>
            </a:r>
            <a:endParaRPr lang="en-US" sz="1350" dirty="0"/>
          </a:p>
        </p:txBody>
      </p:sp>
      <p:sp>
        <p:nvSpPr>
          <p:cNvPr id="21" name="Shape 18"/>
          <p:cNvSpPr/>
          <p:nvPr/>
        </p:nvSpPr>
        <p:spPr>
          <a:xfrm>
            <a:off x="9896595" y="4642485"/>
            <a:ext cx="3585448" cy="9525"/>
          </a:xfrm>
          <a:prstGeom prst="rect">
            <a:avLst/>
          </a:prstGeom>
          <a:solidFill>
            <a:srgbClr val="D4AF37">
              <a:alpha val="14000"/>
            </a:srgbClr>
          </a:solidFill>
          <a:ln/>
        </p:spPr>
      </p:sp>
      <p:sp>
        <p:nvSpPr>
          <p:cNvPr id="22" name="Text 19"/>
          <p:cNvSpPr/>
          <p:nvPr/>
        </p:nvSpPr>
        <p:spPr>
          <a:xfrm>
            <a:off x="10106145" y="3949065"/>
            <a:ext cx="3273912"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20 días post-cierre</a:t>
            </a:r>
            <a:endParaRPr lang="en-US" sz="1350" dirty="0"/>
          </a:p>
        </p:txBody>
      </p:sp>
      <p:sp>
        <p:nvSpPr>
          <p:cNvPr id="23" name="Shape 20"/>
          <p:cNvSpPr/>
          <p:nvPr/>
        </p:nvSpPr>
        <p:spPr>
          <a:xfrm>
            <a:off x="13482042" y="4642485"/>
            <a:ext cx="3891558" cy="9525"/>
          </a:xfrm>
          <a:prstGeom prst="rect">
            <a:avLst/>
          </a:prstGeom>
          <a:solidFill>
            <a:srgbClr val="D4AF37">
              <a:alpha val="14000"/>
            </a:srgbClr>
          </a:solidFill>
          <a:ln/>
        </p:spPr>
      </p:sp>
      <p:sp>
        <p:nvSpPr>
          <p:cNvPr id="24" name="Text 21"/>
          <p:cNvSpPr/>
          <p:nvPr/>
        </p:nvSpPr>
        <p:spPr>
          <a:xfrm>
            <a:off x="13574845" y="3949065"/>
            <a:ext cx="3589205" cy="502920"/>
          </a:xfrm>
          <a:prstGeom prst="rect">
            <a:avLst/>
          </a:prstGeom>
          <a:noFill/>
          <a:ln/>
        </p:spPr>
        <p:txBody>
          <a:bodyPr wrap="square" lIns="25400" tIns="25400" rIns="25400" bIns="25400" rtlCol="0" anchor="ctr">
            <a:normAutofit/>
          </a:bodyPr>
          <a:lstStyle/>
          <a:p>
            <a:pPr algn="r" indent="0" marL="0">
              <a:buNone/>
            </a:pPr>
            <a:r>
              <a:rPr lang="en-US" sz="1050" spc="105" kern="0" dirty="0">
                <a:solidFill>
                  <a:srgbClr val="9C9580"/>
                </a:solidFill>
                <a:latin typeface="Courier New" pitchFamily="34" charset="0"/>
                <a:ea typeface="Courier New" pitchFamily="34" charset="-122"/>
                <a:cs typeface="Courier New" pitchFamily="34" charset="-120"/>
              </a:rPr>
              <a:t>día 20 del mes siguiente</a:t>
            </a:r>
            <a:endParaRPr lang="en-US" sz="1050" dirty="0"/>
          </a:p>
        </p:txBody>
      </p:sp>
      <p:sp>
        <p:nvSpPr>
          <p:cNvPr id="25" name="Shape 22"/>
          <p:cNvSpPr/>
          <p:nvPr/>
        </p:nvSpPr>
        <p:spPr>
          <a:xfrm>
            <a:off x="914400" y="5572125"/>
            <a:ext cx="6254472" cy="9525"/>
          </a:xfrm>
          <a:prstGeom prst="rect">
            <a:avLst/>
          </a:prstGeom>
          <a:solidFill>
            <a:srgbClr val="D4AF37">
              <a:alpha val="14000"/>
            </a:srgbClr>
          </a:solidFill>
          <a:ln/>
        </p:spPr>
      </p:sp>
      <p:sp>
        <p:nvSpPr>
          <p:cNvPr id="26" name="Text 23"/>
          <p:cNvSpPr/>
          <p:nvPr/>
        </p:nvSpPr>
        <p:spPr>
          <a:xfrm>
            <a:off x="1123950" y="4882515"/>
            <a:ext cx="2360890" cy="320040"/>
          </a:xfrm>
          <a:prstGeom prst="rect">
            <a:avLst/>
          </a:prstGeom>
          <a:noFill/>
          <a:ln/>
        </p:spPr>
        <p:txBody>
          <a:bodyPr wrap="square" lIns="0" tIns="0" rIns="0" bIns="0" rtlCol="0" anchor="t">
            <a:normAutofit/>
          </a:bodyPr>
          <a:lstStyle/>
          <a:p>
            <a:pPr algn="l" indent="0" marL="0">
              <a:buNone/>
            </a:pPr>
            <a:r>
              <a:rPr lang="en-US" sz="1650" spc="33" kern="0" dirty="0">
                <a:solidFill>
                  <a:srgbClr val="F4D773"/>
                </a:solidFill>
                <a:latin typeface="Cinzel" pitchFamily="34" charset="0"/>
                <a:ea typeface="Cinzel" pitchFamily="34" charset="-122"/>
                <a:cs typeface="Cinzel" pitchFamily="34" charset="-120"/>
              </a:rPr>
              <a:t>ISR Personas Físicas</a:t>
            </a:r>
            <a:endParaRPr lang="en-US" sz="1650" dirty="0"/>
          </a:p>
        </p:txBody>
      </p:sp>
      <p:sp>
        <p:nvSpPr>
          <p:cNvPr id="27" name="Text 24"/>
          <p:cNvSpPr/>
          <p:nvPr/>
        </p:nvSpPr>
        <p:spPr>
          <a:xfrm>
            <a:off x="1123950" y="5202555"/>
            <a:ext cx="6010433" cy="182880"/>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B5E1A"/>
                </a:solidFill>
                <a:latin typeface="Courier New" pitchFamily="34" charset="0"/>
                <a:ea typeface="Courier New" pitchFamily="34" charset="-122"/>
                <a:cs typeface="Courier New" pitchFamily="34" charset="-120"/>
              </a:rPr>
              <a:t>IR-1 · IR-3 · IR-17</a:t>
            </a:r>
            <a:endParaRPr lang="en-US" sz="975" dirty="0"/>
          </a:p>
        </p:txBody>
      </p:sp>
      <p:sp>
        <p:nvSpPr>
          <p:cNvPr id="28" name="Shape 25"/>
          <p:cNvSpPr/>
          <p:nvPr/>
        </p:nvSpPr>
        <p:spPr>
          <a:xfrm>
            <a:off x="7168872" y="5572125"/>
            <a:ext cx="2727722" cy="9525"/>
          </a:xfrm>
          <a:prstGeom prst="rect">
            <a:avLst/>
          </a:prstGeom>
          <a:solidFill>
            <a:srgbClr val="D4AF37">
              <a:alpha val="14000"/>
            </a:srgbClr>
          </a:solidFill>
          <a:ln/>
        </p:spPr>
      </p:sp>
      <p:sp>
        <p:nvSpPr>
          <p:cNvPr id="29" name="Text 26"/>
          <p:cNvSpPr/>
          <p:nvPr/>
        </p:nvSpPr>
        <p:spPr>
          <a:xfrm>
            <a:off x="7378422" y="4878705"/>
            <a:ext cx="2390454"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Mensual + anual</a:t>
            </a:r>
            <a:endParaRPr lang="en-US" sz="1350" dirty="0"/>
          </a:p>
        </p:txBody>
      </p:sp>
      <p:sp>
        <p:nvSpPr>
          <p:cNvPr id="30" name="Shape 27"/>
          <p:cNvSpPr/>
          <p:nvPr/>
        </p:nvSpPr>
        <p:spPr>
          <a:xfrm>
            <a:off x="9896595" y="5572125"/>
            <a:ext cx="3585448" cy="9525"/>
          </a:xfrm>
          <a:prstGeom prst="rect">
            <a:avLst/>
          </a:prstGeom>
          <a:solidFill>
            <a:srgbClr val="D4AF37">
              <a:alpha val="14000"/>
            </a:srgbClr>
          </a:solidFill>
          <a:ln/>
        </p:spPr>
      </p:sp>
      <p:sp>
        <p:nvSpPr>
          <p:cNvPr id="31" name="Text 28"/>
          <p:cNvSpPr/>
          <p:nvPr/>
        </p:nvSpPr>
        <p:spPr>
          <a:xfrm>
            <a:off x="10106145" y="4878705"/>
            <a:ext cx="3273912"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Variable según formato</a:t>
            </a:r>
            <a:endParaRPr lang="en-US" sz="1350" dirty="0"/>
          </a:p>
        </p:txBody>
      </p:sp>
      <p:sp>
        <p:nvSpPr>
          <p:cNvPr id="32" name="Shape 29"/>
          <p:cNvSpPr/>
          <p:nvPr/>
        </p:nvSpPr>
        <p:spPr>
          <a:xfrm>
            <a:off x="13482042" y="5572125"/>
            <a:ext cx="3891558" cy="9525"/>
          </a:xfrm>
          <a:prstGeom prst="rect">
            <a:avLst/>
          </a:prstGeom>
          <a:solidFill>
            <a:srgbClr val="D4AF37">
              <a:alpha val="14000"/>
            </a:srgbClr>
          </a:solidFill>
          <a:ln/>
        </p:spPr>
      </p:sp>
      <p:sp>
        <p:nvSpPr>
          <p:cNvPr id="33" name="Text 30"/>
          <p:cNvSpPr/>
          <p:nvPr/>
        </p:nvSpPr>
        <p:spPr>
          <a:xfrm>
            <a:off x="13574845" y="4878705"/>
            <a:ext cx="3589205" cy="502920"/>
          </a:xfrm>
          <a:prstGeom prst="rect">
            <a:avLst/>
          </a:prstGeom>
          <a:noFill/>
          <a:ln/>
        </p:spPr>
        <p:txBody>
          <a:bodyPr wrap="square" lIns="25400" tIns="25400" rIns="25400" bIns="25400" rtlCol="0" anchor="ctr">
            <a:normAutofit/>
          </a:bodyPr>
          <a:lstStyle/>
          <a:p>
            <a:pPr algn="r" indent="0" marL="0">
              <a:buNone/>
            </a:pPr>
            <a:r>
              <a:rPr lang="en-US" sz="1050" spc="105" kern="0" dirty="0">
                <a:solidFill>
                  <a:srgbClr val="9C9580"/>
                </a:solidFill>
                <a:latin typeface="Courier New" pitchFamily="34" charset="0"/>
                <a:ea typeface="Courier New" pitchFamily="34" charset="-122"/>
                <a:cs typeface="Courier New" pitchFamily="34" charset="-120"/>
              </a:rPr>
              <a:t>día 10 · 31 marzo</a:t>
            </a:r>
            <a:endParaRPr lang="en-US" sz="1050" dirty="0"/>
          </a:p>
        </p:txBody>
      </p:sp>
      <p:sp>
        <p:nvSpPr>
          <p:cNvPr id="34" name="Shape 31"/>
          <p:cNvSpPr/>
          <p:nvPr/>
        </p:nvSpPr>
        <p:spPr>
          <a:xfrm>
            <a:off x="914400" y="6501765"/>
            <a:ext cx="6254472" cy="9525"/>
          </a:xfrm>
          <a:prstGeom prst="rect">
            <a:avLst/>
          </a:prstGeom>
          <a:solidFill>
            <a:srgbClr val="D4AF37">
              <a:alpha val="14000"/>
            </a:srgbClr>
          </a:solidFill>
          <a:ln/>
        </p:spPr>
      </p:sp>
      <p:sp>
        <p:nvSpPr>
          <p:cNvPr id="35" name="Text 32"/>
          <p:cNvSpPr/>
          <p:nvPr/>
        </p:nvSpPr>
        <p:spPr>
          <a:xfrm>
            <a:off x="1123950" y="5812155"/>
            <a:ext cx="2667911" cy="320040"/>
          </a:xfrm>
          <a:prstGeom prst="rect">
            <a:avLst/>
          </a:prstGeom>
          <a:noFill/>
          <a:ln/>
        </p:spPr>
        <p:txBody>
          <a:bodyPr wrap="square" lIns="0" tIns="0" rIns="0" bIns="0" rtlCol="0" anchor="t">
            <a:normAutofit/>
          </a:bodyPr>
          <a:lstStyle/>
          <a:p>
            <a:pPr algn="l" indent="0" marL="0">
              <a:buNone/>
            </a:pPr>
            <a:r>
              <a:rPr lang="en-US" sz="1650" spc="33" kern="0" dirty="0">
                <a:solidFill>
                  <a:srgbClr val="F4D773"/>
                </a:solidFill>
                <a:latin typeface="Cinzel" pitchFamily="34" charset="0"/>
                <a:ea typeface="Cinzel" pitchFamily="34" charset="-122"/>
                <a:cs typeface="Cinzel" pitchFamily="34" charset="-120"/>
              </a:rPr>
              <a:t>ISR Personas Jurídicas</a:t>
            </a:r>
            <a:endParaRPr lang="en-US" sz="1650" dirty="0"/>
          </a:p>
        </p:txBody>
      </p:sp>
      <p:sp>
        <p:nvSpPr>
          <p:cNvPr id="36" name="Text 33"/>
          <p:cNvSpPr/>
          <p:nvPr/>
        </p:nvSpPr>
        <p:spPr>
          <a:xfrm>
            <a:off x="1123950" y="6132195"/>
            <a:ext cx="6010433" cy="182880"/>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B5E1A"/>
                </a:solidFill>
                <a:latin typeface="Courier New" pitchFamily="34" charset="0"/>
                <a:ea typeface="Courier New" pitchFamily="34" charset="-122"/>
                <a:cs typeface="Courier New" pitchFamily="34" charset="-120"/>
              </a:rPr>
              <a:t>FORM. IR-2</a:t>
            </a:r>
            <a:endParaRPr lang="en-US" sz="975" dirty="0"/>
          </a:p>
        </p:txBody>
      </p:sp>
      <p:sp>
        <p:nvSpPr>
          <p:cNvPr id="37" name="Shape 34"/>
          <p:cNvSpPr/>
          <p:nvPr/>
        </p:nvSpPr>
        <p:spPr>
          <a:xfrm>
            <a:off x="7168872" y="6501765"/>
            <a:ext cx="2727722" cy="9525"/>
          </a:xfrm>
          <a:prstGeom prst="rect">
            <a:avLst/>
          </a:prstGeom>
          <a:solidFill>
            <a:srgbClr val="D4AF37">
              <a:alpha val="14000"/>
            </a:srgbClr>
          </a:solidFill>
          <a:ln/>
        </p:spPr>
      </p:sp>
      <p:sp>
        <p:nvSpPr>
          <p:cNvPr id="38" name="Text 35"/>
          <p:cNvSpPr/>
          <p:nvPr/>
        </p:nvSpPr>
        <p:spPr>
          <a:xfrm>
            <a:off x="7378422" y="5808345"/>
            <a:ext cx="2390454"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Anual</a:t>
            </a:r>
            <a:endParaRPr lang="en-US" sz="1350" dirty="0"/>
          </a:p>
        </p:txBody>
      </p:sp>
      <p:sp>
        <p:nvSpPr>
          <p:cNvPr id="39" name="Shape 36"/>
          <p:cNvSpPr/>
          <p:nvPr/>
        </p:nvSpPr>
        <p:spPr>
          <a:xfrm>
            <a:off x="9896595" y="6501765"/>
            <a:ext cx="3585448" cy="9525"/>
          </a:xfrm>
          <a:prstGeom prst="rect">
            <a:avLst/>
          </a:prstGeom>
          <a:solidFill>
            <a:srgbClr val="D4AF37">
              <a:alpha val="14000"/>
            </a:srgbClr>
          </a:solidFill>
          <a:ln/>
        </p:spPr>
      </p:sp>
      <p:sp>
        <p:nvSpPr>
          <p:cNvPr id="40" name="Text 37"/>
          <p:cNvSpPr/>
          <p:nvPr/>
        </p:nvSpPr>
        <p:spPr>
          <a:xfrm>
            <a:off x="10106145" y="5808345"/>
            <a:ext cx="3273912"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120 días post-cierre</a:t>
            </a:r>
            <a:endParaRPr lang="en-US" sz="1350" dirty="0"/>
          </a:p>
        </p:txBody>
      </p:sp>
      <p:sp>
        <p:nvSpPr>
          <p:cNvPr id="41" name="Shape 38"/>
          <p:cNvSpPr/>
          <p:nvPr/>
        </p:nvSpPr>
        <p:spPr>
          <a:xfrm>
            <a:off x="13482042" y="6501765"/>
            <a:ext cx="3891558" cy="9525"/>
          </a:xfrm>
          <a:prstGeom prst="rect">
            <a:avLst/>
          </a:prstGeom>
          <a:solidFill>
            <a:srgbClr val="D4AF37">
              <a:alpha val="14000"/>
            </a:srgbClr>
          </a:solidFill>
          <a:ln/>
        </p:spPr>
      </p:sp>
      <p:sp>
        <p:nvSpPr>
          <p:cNvPr id="42" name="Text 39"/>
          <p:cNvSpPr/>
          <p:nvPr/>
        </p:nvSpPr>
        <p:spPr>
          <a:xfrm>
            <a:off x="13574845" y="5808345"/>
            <a:ext cx="3589205" cy="502920"/>
          </a:xfrm>
          <a:prstGeom prst="rect">
            <a:avLst/>
          </a:prstGeom>
          <a:noFill/>
          <a:ln/>
        </p:spPr>
        <p:txBody>
          <a:bodyPr wrap="square" lIns="25400" tIns="25400" rIns="25400" bIns="25400" rtlCol="0" anchor="ctr">
            <a:normAutofit/>
          </a:bodyPr>
          <a:lstStyle/>
          <a:p>
            <a:pPr algn="r" indent="0" marL="0">
              <a:buNone/>
            </a:pPr>
            <a:r>
              <a:rPr lang="en-US" sz="1050" spc="105" kern="0" dirty="0">
                <a:solidFill>
                  <a:srgbClr val="9C9580"/>
                </a:solidFill>
                <a:latin typeface="Courier New" pitchFamily="34" charset="0"/>
                <a:ea typeface="Courier New" pitchFamily="34" charset="-122"/>
                <a:cs typeface="Courier New" pitchFamily="34" charset="-120"/>
              </a:rPr>
              <a:t>30 abril</a:t>
            </a:r>
            <a:endParaRPr lang="en-US" sz="1050" dirty="0"/>
          </a:p>
        </p:txBody>
      </p:sp>
      <p:sp>
        <p:nvSpPr>
          <p:cNvPr id="43" name="Shape 40"/>
          <p:cNvSpPr/>
          <p:nvPr/>
        </p:nvSpPr>
        <p:spPr>
          <a:xfrm>
            <a:off x="914400" y="7431405"/>
            <a:ext cx="6254472" cy="9525"/>
          </a:xfrm>
          <a:prstGeom prst="rect">
            <a:avLst/>
          </a:prstGeom>
          <a:solidFill>
            <a:srgbClr val="D4AF37">
              <a:alpha val="14000"/>
            </a:srgbClr>
          </a:solidFill>
          <a:ln/>
        </p:spPr>
      </p:sp>
      <p:sp>
        <p:nvSpPr>
          <p:cNvPr id="44" name="Text 41"/>
          <p:cNvSpPr/>
          <p:nvPr/>
        </p:nvSpPr>
        <p:spPr>
          <a:xfrm>
            <a:off x="1123950" y="6741795"/>
            <a:ext cx="1101923" cy="320040"/>
          </a:xfrm>
          <a:prstGeom prst="rect">
            <a:avLst/>
          </a:prstGeom>
          <a:noFill/>
          <a:ln/>
        </p:spPr>
        <p:txBody>
          <a:bodyPr wrap="square" lIns="0" tIns="0" rIns="0" bIns="0" rtlCol="0" anchor="t">
            <a:normAutofit/>
          </a:bodyPr>
          <a:lstStyle/>
          <a:p>
            <a:pPr algn="l" indent="0" marL="0">
              <a:buNone/>
            </a:pPr>
            <a:r>
              <a:rPr lang="en-US" sz="1650" spc="33" kern="0" dirty="0">
                <a:solidFill>
                  <a:srgbClr val="F4D773"/>
                </a:solidFill>
                <a:latin typeface="Cinzel" pitchFamily="34" charset="0"/>
                <a:ea typeface="Cinzel" pitchFamily="34" charset="-122"/>
                <a:cs typeface="Cinzel" pitchFamily="34" charset="-120"/>
              </a:rPr>
              <a:t>Compras</a:t>
            </a:r>
            <a:endParaRPr lang="en-US" sz="1650" dirty="0"/>
          </a:p>
        </p:txBody>
      </p:sp>
      <p:sp>
        <p:nvSpPr>
          <p:cNvPr id="45" name="Text 42"/>
          <p:cNvSpPr/>
          <p:nvPr/>
        </p:nvSpPr>
        <p:spPr>
          <a:xfrm>
            <a:off x="1123950" y="7061835"/>
            <a:ext cx="6010433" cy="182880"/>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B5E1A"/>
                </a:solidFill>
                <a:latin typeface="Courier New" pitchFamily="34" charset="0"/>
                <a:ea typeface="Courier New" pitchFamily="34" charset="-122"/>
                <a:cs typeface="Courier New" pitchFamily="34" charset="-120"/>
              </a:rPr>
              <a:t>FORMATO 606</a:t>
            </a:r>
            <a:endParaRPr lang="en-US" sz="975" dirty="0"/>
          </a:p>
        </p:txBody>
      </p:sp>
      <p:sp>
        <p:nvSpPr>
          <p:cNvPr id="46" name="Shape 43"/>
          <p:cNvSpPr/>
          <p:nvPr/>
        </p:nvSpPr>
        <p:spPr>
          <a:xfrm>
            <a:off x="7168872" y="7431405"/>
            <a:ext cx="2727722" cy="9525"/>
          </a:xfrm>
          <a:prstGeom prst="rect">
            <a:avLst/>
          </a:prstGeom>
          <a:solidFill>
            <a:srgbClr val="D4AF37">
              <a:alpha val="14000"/>
            </a:srgbClr>
          </a:solidFill>
          <a:ln/>
        </p:spPr>
      </p:sp>
      <p:sp>
        <p:nvSpPr>
          <p:cNvPr id="47" name="Text 44"/>
          <p:cNvSpPr/>
          <p:nvPr/>
        </p:nvSpPr>
        <p:spPr>
          <a:xfrm>
            <a:off x="7378422" y="6737985"/>
            <a:ext cx="2390454"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Mensual</a:t>
            </a:r>
            <a:endParaRPr lang="en-US" sz="1350" dirty="0"/>
          </a:p>
        </p:txBody>
      </p:sp>
      <p:sp>
        <p:nvSpPr>
          <p:cNvPr id="48" name="Shape 45"/>
          <p:cNvSpPr/>
          <p:nvPr/>
        </p:nvSpPr>
        <p:spPr>
          <a:xfrm>
            <a:off x="9896595" y="7431405"/>
            <a:ext cx="3585448" cy="9525"/>
          </a:xfrm>
          <a:prstGeom prst="rect">
            <a:avLst/>
          </a:prstGeom>
          <a:solidFill>
            <a:srgbClr val="D4AF37">
              <a:alpha val="14000"/>
            </a:srgbClr>
          </a:solidFill>
          <a:ln/>
        </p:spPr>
      </p:sp>
      <p:sp>
        <p:nvSpPr>
          <p:cNvPr id="49" name="Text 46"/>
          <p:cNvSpPr/>
          <p:nvPr/>
        </p:nvSpPr>
        <p:spPr>
          <a:xfrm>
            <a:off x="10106145" y="6737985"/>
            <a:ext cx="3273912"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15 días post-cierre</a:t>
            </a:r>
            <a:endParaRPr lang="en-US" sz="1350" dirty="0"/>
          </a:p>
        </p:txBody>
      </p:sp>
      <p:sp>
        <p:nvSpPr>
          <p:cNvPr id="50" name="Shape 47"/>
          <p:cNvSpPr/>
          <p:nvPr/>
        </p:nvSpPr>
        <p:spPr>
          <a:xfrm>
            <a:off x="13482042" y="7431405"/>
            <a:ext cx="3891558" cy="9525"/>
          </a:xfrm>
          <a:prstGeom prst="rect">
            <a:avLst/>
          </a:prstGeom>
          <a:solidFill>
            <a:srgbClr val="D4AF37">
              <a:alpha val="14000"/>
            </a:srgbClr>
          </a:solidFill>
          <a:ln/>
        </p:spPr>
      </p:sp>
      <p:sp>
        <p:nvSpPr>
          <p:cNvPr id="51" name="Text 48"/>
          <p:cNvSpPr/>
          <p:nvPr/>
        </p:nvSpPr>
        <p:spPr>
          <a:xfrm>
            <a:off x="13574845" y="6737985"/>
            <a:ext cx="3589205" cy="502920"/>
          </a:xfrm>
          <a:prstGeom prst="rect">
            <a:avLst/>
          </a:prstGeom>
          <a:noFill/>
          <a:ln/>
        </p:spPr>
        <p:txBody>
          <a:bodyPr wrap="square" lIns="25400" tIns="25400" rIns="25400" bIns="25400" rtlCol="0" anchor="ctr">
            <a:normAutofit/>
          </a:bodyPr>
          <a:lstStyle/>
          <a:p>
            <a:pPr algn="r" indent="0" marL="0">
              <a:buNone/>
            </a:pPr>
            <a:r>
              <a:rPr lang="en-US" sz="1050" spc="105" kern="0" dirty="0">
                <a:solidFill>
                  <a:srgbClr val="9C9580"/>
                </a:solidFill>
                <a:latin typeface="Courier New" pitchFamily="34" charset="0"/>
                <a:ea typeface="Courier New" pitchFamily="34" charset="-122"/>
                <a:cs typeface="Courier New" pitchFamily="34" charset="-120"/>
              </a:rPr>
              <a:t>día 15 del mes siguiente</a:t>
            </a:r>
            <a:endParaRPr lang="en-US" sz="1050" dirty="0"/>
          </a:p>
        </p:txBody>
      </p:sp>
      <p:sp>
        <p:nvSpPr>
          <p:cNvPr id="52" name="Shape 49"/>
          <p:cNvSpPr/>
          <p:nvPr/>
        </p:nvSpPr>
        <p:spPr>
          <a:xfrm>
            <a:off x="914400" y="8361045"/>
            <a:ext cx="6254472" cy="9525"/>
          </a:xfrm>
          <a:prstGeom prst="rect">
            <a:avLst/>
          </a:prstGeom>
          <a:solidFill>
            <a:srgbClr val="D4AF37">
              <a:alpha val="14000"/>
            </a:srgbClr>
          </a:solidFill>
          <a:ln/>
        </p:spPr>
      </p:sp>
      <p:sp>
        <p:nvSpPr>
          <p:cNvPr id="53" name="Text 50"/>
          <p:cNvSpPr/>
          <p:nvPr/>
        </p:nvSpPr>
        <p:spPr>
          <a:xfrm>
            <a:off x="1123950" y="7671435"/>
            <a:ext cx="877134" cy="320040"/>
          </a:xfrm>
          <a:prstGeom prst="rect">
            <a:avLst/>
          </a:prstGeom>
          <a:noFill/>
          <a:ln/>
        </p:spPr>
        <p:txBody>
          <a:bodyPr wrap="square" lIns="0" tIns="0" rIns="0" bIns="0" rtlCol="0" anchor="t">
            <a:normAutofit/>
          </a:bodyPr>
          <a:lstStyle/>
          <a:p>
            <a:pPr algn="l" indent="0" marL="0">
              <a:buNone/>
            </a:pPr>
            <a:r>
              <a:rPr lang="en-US" sz="1650" spc="33" kern="0" dirty="0">
                <a:solidFill>
                  <a:srgbClr val="F4D773"/>
                </a:solidFill>
                <a:latin typeface="Cinzel" pitchFamily="34" charset="0"/>
                <a:ea typeface="Cinzel" pitchFamily="34" charset="-122"/>
                <a:cs typeface="Cinzel" pitchFamily="34" charset="-120"/>
              </a:rPr>
              <a:t>Ventas</a:t>
            </a:r>
            <a:endParaRPr lang="en-US" sz="1650" dirty="0"/>
          </a:p>
        </p:txBody>
      </p:sp>
      <p:sp>
        <p:nvSpPr>
          <p:cNvPr id="54" name="Text 51"/>
          <p:cNvSpPr/>
          <p:nvPr/>
        </p:nvSpPr>
        <p:spPr>
          <a:xfrm>
            <a:off x="1123950" y="7991475"/>
            <a:ext cx="6010433" cy="182880"/>
          </a:xfrm>
          <a:prstGeom prst="rect">
            <a:avLst/>
          </a:prstGeom>
          <a:noFill/>
          <a:ln/>
        </p:spPr>
        <p:txBody>
          <a:bodyPr wrap="square" lIns="25400" tIns="25400" rIns="25400" bIns="25400" rtlCol="0" anchor="t">
            <a:normAutofit/>
          </a:bodyPr>
          <a:lstStyle/>
          <a:p>
            <a:pPr algn="l" indent="0" marL="0">
              <a:buNone/>
            </a:pPr>
            <a:r>
              <a:rPr lang="en-US" sz="975" spc="117" kern="0" dirty="0">
                <a:solidFill>
                  <a:srgbClr val="8B5E1A"/>
                </a:solidFill>
                <a:latin typeface="Courier New" pitchFamily="34" charset="0"/>
                <a:ea typeface="Courier New" pitchFamily="34" charset="-122"/>
                <a:cs typeface="Courier New" pitchFamily="34" charset="-120"/>
              </a:rPr>
              <a:t>FORMATO 607</a:t>
            </a:r>
            <a:endParaRPr lang="en-US" sz="975" dirty="0"/>
          </a:p>
        </p:txBody>
      </p:sp>
      <p:sp>
        <p:nvSpPr>
          <p:cNvPr id="55" name="Shape 52"/>
          <p:cNvSpPr/>
          <p:nvPr/>
        </p:nvSpPr>
        <p:spPr>
          <a:xfrm>
            <a:off x="7168872" y="8361045"/>
            <a:ext cx="2727722" cy="9525"/>
          </a:xfrm>
          <a:prstGeom prst="rect">
            <a:avLst/>
          </a:prstGeom>
          <a:solidFill>
            <a:srgbClr val="D4AF37">
              <a:alpha val="14000"/>
            </a:srgbClr>
          </a:solidFill>
          <a:ln/>
        </p:spPr>
      </p:sp>
      <p:sp>
        <p:nvSpPr>
          <p:cNvPr id="56" name="Text 53"/>
          <p:cNvSpPr/>
          <p:nvPr/>
        </p:nvSpPr>
        <p:spPr>
          <a:xfrm>
            <a:off x="7378422" y="7667625"/>
            <a:ext cx="2390454"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Mensual</a:t>
            </a:r>
            <a:endParaRPr lang="en-US" sz="1350" dirty="0"/>
          </a:p>
        </p:txBody>
      </p:sp>
      <p:sp>
        <p:nvSpPr>
          <p:cNvPr id="57" name="Shape 54"/>
          <p:cNvSpPr/>
          <p:nvPr/>
        </p:nvSpPr>
        <p:spPr>
          <a:xfrm>
            <a:off x="9896595" y="8361045"/>
            <a:ext cx="3585448" cy="9525"/>
          </a:xfrm>
          <a:prstGeom prst="rect">
            <a:avLst/>
          </a:prstGeom>
          <a:solidFill>
            <a:srgbClr val="D4AF37">
              <a:alpha val="14000"/>
            </a:srgbClr>
          </a:solidFill>
          <a:ln/>
        </p:spPr>
      </p:sp>
      <p:sp>
        <p:nvSpPr>
          <p:cNvPr id="58" name="Text 55"/>
          <p:cNvSpPr/>
          <p:nvPr/>
        </p:nvSpPr>
        <p:spPr>
          <a:xfrm>
            <a:off x="10106145" y="7667625"/>
            <a:ext cx="3273912" cy="502920"/>
          </a:xfrm>
          <a:prstGeom prst="rect">
            <a:avLst/>
          </a:prstGeom>
          <a:noFill/>
          <a:ln/>
        </p:spPr>
        <p:txBody>
          <a:bodyPr wrap="square" lIns="25400" tIns="25400" rIns="25400" bIns="25400" rtlCol="0" anchor="ctr">
            <a:normAutofit/>
          </a:bodyPr>
          <a:lstStyle/>
          <a:p>
            <a:pPr algn="l" indent="0" marL="0">
              <a:buNone/>
            </a:pPr>
            <a:r>
              <a:rPr lang="en-US" sz="1350" dirty="0">
                <a:solidFill>
                  <a:srgbClr val="E7DDB8"/>
                </a:solidFill>
                <a:latin typeface="Inter" pitchFamily="34" charset="0"/>
                <a:ea typeface="Inter" pitchFamily="34" charset="-122"/>
                <a:cs typeface="Inter" pitchFamily="34" charset="-120"/>
              </a:rPr>
              <a:t>15 días post-cierre</a:t>
            </a:r>
            <a:endParaRPr lang="en-US" sz="1350" dirty="0"/>
          </a:p>
        </p:txBody>
      </p:sp>
      <p:sp>
        <p:nvSpPr>
          <p:cNvPr id="59" name="Shape 56"/>
          <p:cNvSpPr/>
          <p:nvPr/>
        </p:nvSpPr>
        <p:spPr>
          <a:xfrm>
            <a:off x="13482042" y="8361045"/>
            <a:ext cx="3891558" cy="9525"/>
          </a:xfrm>
          <a:prstGeom prst="rect">
            <a:avLst/>
          </a:prstGeom>
          <a:solidFill>
            <a:srgbClr val="D4AF37">
              <a:alpha val="14000"/>
            </a:srgbClr>
          </a:solidFill>
          <a:ln/>
        </p:spPr>
      </p:sp>
      <p:sp>
        <p:nvSpPr>
          <p:cNvPr id="60" name="Text 57"/>
          <p:cNvSpPr/>
          <p:nvPr/>
        </p:nvSpPr>
        <p:spPr>
          <a:xfrm>
            <a:off x="13574845" y="7667625"/>
            <a:ext cx="3589205" cy="502920"/>
          </a:xfrm>
          <a:prstGeom prst="rect">
            <a:avLst/>
          </a:prstGeom>
          <a:noFill/>
          <a:ln/>
        </p:spPr>
        <p:txBody>
          <a:bodyPr wrap="square" lIns="25400" tIns="25400" rIns="25400" bIns="25400" rtlCol="0" anchor="ctr">
            <a:normAutofit/>
          </a:bodyPr>
          <a:lstStyle/>
          <a:p>
            <a:pPr algn="r" indent="0" marL="0">
              <a:buNone/>
            </a:pPr>
            <a:r>
              <a:rPr lang="en-US" sz="1050" spc="105" kern="0" dirty="0">
                <a:solidFill>
                  <a:srgbClr val="9C9580"/>
                </a:solidFill>
                <a:latin typeface="Courier New" pitchFamily="34" charset="0"/>
                <a:ea typeface="Courier New" pitchFamily="34" charset="-122"/>
                <a:cs typeface="Courier New" pitchFamily="34" charset="-120"/>
              </a:rPr>
              <a:t>día 15 del mes siguiente</a:t>
            </a:r>
            <a:endParaRPr lang="en-US" sz="1050" dirty="0"/>
          </a:p>
        </p:txBody>
      </p:sp>
      <p:sp>
        <p:nvSpPr>
          <p:cNvPr id="61" name="Shape 58"/>
          <p:cNvSpPr/>
          <p:nvPr/>
        </p:nvSpPr>
        <p:spPr>
          <a:xfrm>
            <a:off x="914400" y="8677275"/>
            <a:ext cx="16459200" cy="557213"/>
          </a:xfrm>
          <a:prstGeom prst="rect">
            <a:avLst/>
          </a:prstGeom>
          <a:solidFill>
            <a:srgbClr val="D4AF37">
              <a:alpha val="5000"/>
            </a:srgbClr>
          </a:solidFill>
          <a:ln/>
        </p:spPr>
      </p:sp>
      <p:sp>
        <p:nvSpPr>
          <p:cNvPr id="62" name="Shape 59"/>
          <p:cNvSpPr/>
          <p:nvPr/>
        </p:nvSpPr>
        <p:spPr>
          <a:xfrm>
            <a:off x="914400" y="8677275"/>
            <a:ext cx="15240" cy="557213"/>
          </a:xfrm>
          <a:prstGeom prst="rect">
            <a:avLst/>
          </a:prstGeom>
          <a:solidFill>
            <a:srgbClr val="D4AF37"/>
          </a:solidFill>
          <a:ln/>
        </p:spPr>
      </p:sp>
      <p:sp>
        <p:nvSpPr>
          <p:cNvPr id="63" name="Text 60"/>
          <p:cNvSpPr/>
          <p:nvPr/>
        </p:nvSpPr>
        <p:spPr>
          <a:xfrm>
            <a:off x="1158240" y="8848725"/>
            <a:ext cx="199311"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F4D773"/>
                </a:solidFill>
                <a:latin typeface="Inter" pitchFamily="34" charset="0"/>
                <a:ea typeface="Inter" pitchFamily="34" charset="-122"/>
                <a:cs typeface="Inter" pitchFamily="34" charset="-120"/>
              </a:rPr>
              <a:t>▶</a:t>
            </a:r>
            <a:endParaRPr lang="en-US" sz="1125" dirty="0"/>
          </a:p>
        </p:txBody>
      </p:sp>
      <p:sp>
        <p:nvSpPr>
          <p:cNvPr id="64" name="Text 61"/>
          <p:cNvSpPr/>
          <p:nvPr/>
        </p:nvSpPr>
        <p:spPr>
          <a:xfrm>
            <a:off x="1452801" y="8848725"/>
            <a:ext cx="10354879"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E7DDB8"/>
                </a:solidFill>
                <a:latin typeface="Inter" pitchFamily="34" charset="0"/>
                <a:ea typeface="Inter" pitchFamily="34" charset="-122"/>
                <a:cs typeface="Inter" pitchFamily="34" charset="-120"/>
              </a:rPr>
              <a:t>Sometimiento </a:t>
            </a:r>
            <a:pPr algn="l" indent="0" marL="0">
              <a:lnSpc>
                <a:spcPct val="150000"/>
              </a:lnSpc>
              <a:buNone/>
            </a:pPr>
            <a:r>
              <a:rPr lang="en-US" sz="1125" dirty="0">
                <a:solidFill>
                  <a:srgbClr val="F4D773"/>
                </a:solidFill>
                <a:latin typeface="Inter" pitchFamily="34" charset="0"/>
                <a:ea typeface="Inter" pitchFamily="34" charset="-122"/>
                <a:cs typeface="Inter" pitchFamily="34" charset="-120"/>
              </a:rPr>
              <a:t>automatizado vía portal DGII </a:t>
            </a:r>
            <a:pPr algn="l" indent="0" marL="0">
              <a:lnSpc>
                <a:spcPct val="150000"/>
              </a:lnSpc>
              <a:buNone/>
            </a:pPr>
            <a:r>
              <a:rPr lang="en-US" sz="1125" dirty="0">
                <a:solidFill>
                  <a:srgbClr val="E7DDB8"/>
                </a:solidFill>
                <a:latin typeface="Inter" pitchFamily="34" charset="0"/>
                <a:ea typeface="Inter" pitchFamily="34" charset="-122"/>
                <a:cs typeface="Inter" pitchFamily="34" charset="-120"/>
              </a:rPr>
              <a:t>· Confirmación electrónica en menos de 24h · Histórico digital descargable desde portal cliente HUYGHU.</a:t>
            </a:r>
            <a:endParaRPr lang="en-US" sz="1125" dirty="0"/>
          </a:p>
        </p:txBody>
      </p:sp>
      <p:sp>
        <p:nvSpPr>
          <p:cNvPr id="65" name="Text 62"/>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66" name="Text 63"/>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06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06 · VERIFICACIÓN INDEPENDIENTE</a:t>
            </a:r>
            <a:endParaRPr lang="en-US" sz="1050" dirty="0"/>
          </a:p>
        </p:txBody>
      </p:sp>
      <p:sp>
        <p:nvSpPr>
          <p:cNvPr id="7" name="Text 4"/>
          <p:cNvSpPr/>
          <p:nvPr/>
        </p:nvSpPr>
        <p:spPr>
          <a:xfrm>
            <a:off x="914400" y="1798320"/>
            <a:ext cx="16952976" cy="1718310"/>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Auditoría &amp; Due Diligence.</a:t>
            </a:r>
            <a:endParaRPr lang="en-US" sz="6300" dirty="0"/>
          </a:p>
        </p:txBody>
      </p:sp>
      <p:sp>
        <p:nvSpPr>
          <p:cNvPr id="8" name="Text 5"/>
          <p:cNvSpPr/>
          <p:nvPr/>
        </p:nvSpPr>
        <p:spPr>
          <a:xfrm>
            <a:off x="914400" y="3935730"/>
            <a:ext cx="10791825" cy="1189673"/>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Auditorías externas independientes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 Revisión de estados financieros con dictamen CPA ·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Due Diligence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para fusiones, adquisiciones y financiamientos · Informes alineados a NIIF para PYMES y NIIF Plenas.</a:t>
            </a:r>
            <a:endParaRPr lang="en-US" sz="1950" dirty="0"/>
          </a:p>
        </p:txBody>
      </p:sp>
      <p:sp>
        <p:nvSpPr>
          <p:cNvPr id="9" name="Shape 6"/>
          <p:cNvSpPr/>
          <p:nvPr/>
        </p:nvSpPr>
        <p:spPr>
          <a:xfrm>
            <a:off x="914400" y="5944553"/>
            <a:ext cx="5334000" cy="1746885"/>
          </a:xfrm>
          <a:prstGeom prst="rect">
            <a:avLst/>
          </a:prstGeom>
          <a:solidFill>
            <a:srgbClr val="D4AF37">
              <a:alpha val="3000"/>
            </a:srgbClr>
          </a:solidFill>
          <a:ln w="7620">
            <a:solidFill>
              <a:srgbClr val="D4AF37">
                <a:alpha val="25000"/>
              </a:srgbClr>
            </a:solidFill>
            <a:prstDash val="solid"/>
          </a:ln>
        </p:spPr>
      </p:sp>
      <p:sp>
        <p:nvSpPr>
          <p:cNvPr id="10" name="Text 7"/>
          <p:cNvSpPr/>
          <p:nvPr/>
        </p:nvSpPr>
        <p:spPr>
          <a:xfrm>
            <a:off x="1226820" y="6295073"/>
            <a:ext cx="4850435"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ALCANCE</a:t>
            </a:r>
            <a:endParaRPr lang="en-US" sz="825" dirty="0"/>
          </a:p>
        </p:txBody>
      </p:sp>
      <p:sp>
        <p:nvSpPr>
          <p:cNvPr id="11" name="Text 8"/>
          <p:cNvSpPr/>
          <p:nvPr/>
        </p:nvSpPr>
        <p:spPr>
          <a:xfrm>
            <a:off x="1226820" y="6493193"/>
            <a:ext cx="4850435" cy="396240"/>
          </a:xfrm>
          <a:prstGeom prst="rect">
            <a:avLst/>
          </a:prstGeom>
          <a:noFill/>
          <a:ln/>
        </p:spPr>
        <p:txBody>
          <a:bodyPr wrap="square" lIns="25400" tIns="25400" rIns="25400" bIns="25400" rtlCol="0" anchor="t">
            <a:normAutofit/>
          </a:bodyPr>
          <a:lstStyle/>
          <a:p>
            <a:pPr algn="l" indent="0" marL="0">
              <a:buNone/>
            </a:pPr>
            <a:r>
              <a:rPr lang="en-US" sz="2100" spc="42" kern="0" dirty="0">
                <a:solidFill>
                  <a:srgbClr val="F4D773"/>
                </a:solidFill>
                <a:latin typeface="Cinzel" pitchFamily="34" charset="0"/>
                <a:ea typeface="Cinzel" pitchFamily="34" charset="-122"/>
                <a:cs typeface="Cinzel" pitchFamily="34" charset="-120"/>
              </a:rPr>
              <a:t>Auditoría externa</a:t>
            </a:r>
            <a:endParaRPr lang="en-US" sz="2100" dirty="0"/>
          </a:p>
        </p:txBody>
      </p:sp>
      <p:sp>
        <p:nvSpPr>
          <p:cNvPr id="12" name="Text 9"/>
          <p:cNvSpPr/>
          <p:nvPr/>
        </p:nvSpPr>
        <p:spPr>
          <a:xfrm>
            <a:off x="1226820" y="6927532"/>
            <a:ext cx="4850435"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Revisión integral con prueba sustantiva. Dictamen firmado por CPA colegiado ICPARD.</a:t>
            </a:r>
            <a:endParaRPr lang="en-US" sz="1050" dirty="0"/>
          </a:p>
        </p:txBody>
      </p:sp>
      <p:sp>
        <p:nvSpPr>
          <p:cNvPr id="13" name="Shape 10"/>
          <p:cNvSpPr/>
          <p:nvPr/>
        </p:nvSpPr>
        <p:spPr>
          <a:xfrm>
            <a:off x="6477000" y="5944553"/>
            <a:ext cx="5334000" cy="1746885"/>
          </a:xfrm>
          <a:prstGeom prst="rect">
            <a:avLst/>
          </a:prstGeom>
          <a:solidFill>
            <a:srgbClr val="D4AF37">
              <a:alpha val="3000"/>
            </a:srgbClr>
          </a:solidFill>
          <a:ln w="7620">
            <a:solidFill>
              <a:srgbClr val="D4AF37">
                <a:alpha val="25000"/>
              </a:srgbClr>
            </a:solidFill>
            <a:prstDash val="solid"/>
          </a:ln>
        </p:spPr>
      </p:sp>
      <p:sp>
        <p:nvSpPr>
          <p:cNvPr id="14" name="Text 11"/>
          <p:cNvSpPr/>
          <p:nvPr/>
        </p:nvSpPr>
        <p:spPr>
          <a:xfrm>
            <a:off x="6789420" y="6295073"/>
            <a:ext cx="4850435"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M&amp;A</a:t>
            </a:r>
            <a:endParaRPr lang="en-US" sz="825" dirty="0"/>
          </a:p>
        </p:txBody>
      </p:sp>
      <p:sp>
        <p:nvSpPr>
          <p:cNvPr id="15" name="Text 12"/>
          <p:cNvSpPr/>
          <p:nvPr/>
        </p:nvSpPr>
        <p:spPr>
          <a:xfrm>
            <a:off x="6789420" y="6493193"/>
            <a:ext cx="4850435" cy="396240"/>
          </a:xfrm>
          <a:prstGeom prst="rect">
            <a:avLst/>
          </a:prstGeom>
          <a:noFill/>
          <a:ln/>
        </p:spPr>
        <p:txBody>
          <a:bodyPr wrap="square" lIns="25400" tIns="25400" rIns="25400" bIns="25400" rtlCol="0" anchor="t">
            <a:normAutofit/>
          </a:bodyPr>
          <a:lstStyle/>
          <a:p>
            <a:pPr algn="l" indent="0" marL="0">
              <a:buNone/>
            </a:pPr>
            <a:r>
              <a:rPr lang="en-US" sz="2100" spc="42" kern="0" dirty="0">
                <a:solidFill>
                  <a:srgbClr val="F4D773"/>
                </a:solidFill>
                <a:latin typeface="Cinzel" pitchFamily="34" charset="0"/>
                <a:ea typeface="Cinzel" pitchFamily="34" charset="-122"/>
                <a:cs typeface="Cinzel" pitchFamily="34" charset="-120"/>
              </a:rPr>
              <a:t>Due Diligence financiero</a:t>
            </a:r>
            <a:endParaRPr lang="en-US" sz="2100" dirty="0"/>
          </a:p>
        </p:txBody>
      </p:sp>
      <p:sp>
        <p:nvSpPr>
          <p:cNvPr id="16" name="Text 13"/>
          <p:cNvSpPr/>
          <p:nvPr/>
        </p:nvSpPr>
        <p:spPr>
          <a:xfrm>
            <a:off x="6789420" y="6927532"/>
            <a:ext cx="4850435"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Revisión contable y fiscal previa a operación. Identificación de pasivos ocultos.</a:t>
            </a:r>
            <a:endParaRPr lang="en-US" sz="1050" dirty="0"/>
          </a:p>
        </p:txBody>
      </p:sp>
      <p:sp>
        <p:nvSpPr>
          <p:cNvPr id="17" name="Shape 14"/>
          <p:cNvSpPr/>
          <p:nvPr/>
        </p:nvSpPr>
        <p:spPr>
          <a:xfrm>
            <a:off x="12039600" y="5944553"/>
            <a:ext cx="5334000" cy="1746885"/>
          </a:xfrm>
          <a:prstGeom prst="rect">
            <a:avLst/>
          </a:prstGeom>
          <a:solidFill>
            <a:srgbClr val="D4AF37">
              <a:alpha val="3000"/>
            </a:srgbClr>
          </a:solidFill>
          <a:ln w="7620">
            <a:solidFill>
              <a:srgbClr val="D4AF37">
                <a:alpha val="25000"/>
              </a:srgbClr>
            </a:solidFill>
            <a:prstDash val="solid"/>
          </a:ln>
        </p:spPr>
      </p:sp>
      <p:sp>
        <p:nvSpPr>
          <p:cNvPr id="18" name="Text 15"/>
          <p:cNvSpPr/>
          <p:nvPr/>
        </p:nvSpPr>
        <p:spPr>
          <a:xfrm>
            <a:off x="12352020" y="6295073"/>
            <a:ext cx="4850435"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BANCA</a:t>
            </a:r>
            <a:endParaRPr lang="en-US" sz="825" dirty="0"/>
          </a:p>
        </p:txBody>
      </p:sp>
      <p:sp>
        <p:nvSpPr>
          <p:cNvPr id="19" name="Text 16"/>
          <p:cNvSpPr/>
          <p:nvPr/>
        </p:nvSpPr>
        <p:spPr>
          <a:xfrm>
            <a:off x="12352020" y="6493193"/>
            <a:ext cx="4850435" cy="396240"/>
          </a:xfrm>
          <a:prstGeom prst="rect">
            <a:avLst/>
          </a:prstGeom>
          <a:noFill/>
          <a:ln/>
        </p:spPr>
        <p:txBody>
          <a:bodyPr wrap="square" lIns="25400" tIns="25400" rIns="25400" bIns="25400" rtlCol="0" anchor="t">
            <a:normAutofit/>
          </a:bodyPr>
          <a:lstStyle/>
          <a:p>
            <a:pPr algn="l" indent="0" marL="0">
              <a:buNone/>
            </a:pPr>
            <a:r>
              <a:rPr lang="en-US" sz="2100" spc="42" kern="0" dirty="0">
                <a:solidFill>
                  <a:srgbClr val="F4D773"/>
                </a:solidFill>
                <a:latin typeface="Cinzel" pitchFamily="34" charset="0"/>
                <a:ea typeface="Cinzel" pitchFamily="34" charset="-122"/>
                <a:cs typeface="Cinzel" pitchFamily="34" charset="-120"/>
              </a:rPr>
              <a:t>Auditoría para crédito</a:t>
            </a:r>
            <a:endParaRPr lang="en-US" sz="2100" dirty="0"/>
          </a:p>
        </p:txBody>
      </p:sp>
      <p:sp>
        <p:nvSpPr>
          <p:cNvPr id="20" name="Text 17"/>
          <p:cNvSpPr/>
          <p:nvPr/>
        </p:nvSpPr>
        <p:spPr>
          <a:xfrm>
            <a:off x="12352020" y="6927532"/>
            <a:ext cx="4850435"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EE.FF. auditados para presentación bancaria. Aceptados por la banca múltiple RD.</a:t>
            </a:r>
            <a:endParaRPr lang="en-US" sz="1050" dirty="0"/>
          </a:p>
        </p:txBody>
      </p:sp>
      <p:sp>
        <p:nvSpPr>
          <p:cNvPr id="21" name="Text 18"/>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22" name="Text 19"/>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07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07 · NÓMINA &amp; SEGURIDAD SOCIAL</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TSS · INFOTEP · Nóminas.</a:t>
            </a:r>
            <a:endParaRPr lang="en-US" sz="6300" dirty="0"/>
          </a:p>
        </p:txBody>
      </p:sp>
      <p:sp>
        <p:nvSpPr>
          <p:cNvPr id="8" name="Text 5"/>
          <p:cNvSpPr/>
          <p:nvPr/>
        </p:nvSpPr>
        <p:spPr>
          <a:xfrm>
            <a:off x="914400" y="3095625"/>
            <a:ext cx="10791825"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Gestión integral de nómina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consolidada en un solo proceso mensual.</a:t>
            </a:r>
            <a:endParaRPr lang="en-US" sz="1950" dirty="0"/>
          </a:p>
        </p:txBody>
      </p:sp>
      <p:sp>
        <p:nvSpPr>
          <p:cNvPr id="9" name="Shape 6"/>
          <p:cNvSpPr/>
          <p:nvPr/>
        </p:nvSpPr>
        <p:spPr>
          <a:xfrm>
            <a:off x="914400" y="4184333"/>
            <a:ext cx="3943350" cy="1991678"/>
          </a:xfrm>
          <a:prstGeom prst="rect">
            <a:avLst/>
          </a:prstGeom>
          <a:ln w="7620">
            <a:solidFill>
              <a:srgbClr val="D4AF37">
                <a:alpha val="22000"/>
              </a:srgbClr>
            </a:solidFill>
            <a:prstDash val="solid"/>
          </a:ln>
        </p:spPr>
      </p:sp>
      <p:sp>
        <p:nvSpPr>
          <p:cNvPr id="10" name="Shape 7"/>
          <p:cNvSpPr/>
          <p:nvPr/>
        </p:nvSpPr>
        <p:spPr>
          <a:xfrm>
            <a:off x="2573655" y="4534853"/>
            <a:ext cx="624840" cy="624840"/>
          </a:xfrm>
          <a:prstGeom prst="ellipse">
            <a:avLst/>
          </a:prstGeom>
          <a:ln w="7620">
            <a:solidFill>
              <a:srgbClr val="D4AF37"/>
            </a:solidFill>
            <a:prstDash val="solid"/>
          </a:ln>
        </p:spPr>
      </p:sp>
      <p:sp>
        <p:nvSpPr>
          <p:cNvPr id="11" name="Text 8"/>
          <p:cNvSpPr/>
          <p:nvPr/>
        </p:nvSpPr>
        <p:spPr>
          <a:xfrm>
            <a:off x="2543175" y="4542473"/>
            <a:ext cx="685800" cy="6477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4D773"/>
                </a:solidFill>
                <a:latin typeface="Cinzel" pitchFamily="34" charset="0"/>
                <a:ea typeface="Cinzel" pitchFamily="34" charset="-122"/>
                <a:cs typeface="Cinzel" pitchFamily="34" charset="-120"/>
              </a:rPr>
              <a:t>N</a:t>
            </a:r>
            <a:endParaRPr lang="en-US" sz="1650" dirty="0"/>
          </a:p>
        </p:txBody>
      </p:sp>
      <p:sp>
        <p:nvSpPr>
          <p:cNvPr id="12" name="Text 9"/>
          <p:cNvSpPr/>
          <p:nvPr/>
        </p:nvSpPr>
        <p:spPr>
          <a:xfrm>
            <a:off x="1137799" y="5331143"/>
            <a:ext cx="3496551" cy="289560"/>
          </a:xfrm>
          <a:prstGeom prst="rect">
            <a:avLst/>
          </a:prstGeom>
          <a:noFill/>
          <a:ln/>
        </p:spPr>
        <p:txBody>
          <a:bodyPr wrap="square" lIns="25400" tIns="25400" rIns="25400" bIns="25400" rtlCol="0" anchor="t">
            <a:normAutofit/>
          </a:bodyPr>
          <a:lstStyle/>
          <a:p>
            <a:pPr algn="ctr" indent="0" marL="0">
              <a:buNone/>
            </a:pPr>
            <a:r>
              <a:rPr lang="en-US" sz="1500" spc="60" kern="0" dirty="0">
                <a:solidFill>
                  <a:srgbClr val="F4D773"/>
                </a:solidFill>
                <a:latin typeface="Cinzel" pitchFamily="34" charset="0"/>
                <a:ea typeface="Cinzel" pitchFamily="34" charset="-122"/>
                <a:cs typeface="Cinzel" pitchFamily="34" charset="-120"/>
              </a:rPr>
              <a:t>Nómina mensual</a:t>
            </a:r>
            <a:endParaRPr lang="en-US" sz="1500" dirty="0"/>
          </a:p>
        </p:txBody>
      </p:sp>
      <p:sp>
        <p:nvSpPr>
          <p:cNvPr id="13" name="Text 10"/>
          <p:cNvSpPr/>
          <p:nvPr/>
        </p:nvSpPr>
        <p:spPr>
          <a:xfrm>
            <a:off x="1137799" y="5639753"/>
            <a:ext cx="3496551" cy="223838"/>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Cálculo multi-empleado · multi-moneda · multi-deducción</a:t>
            </a:r>
            <a:endParaRPr lang="en-US" sz="975" dirty="0"/>
          </a:p>
        </p:txBody>
      </p:sp>
      <p:sp>
        <p:nvSpPr>
          <p:cNvPr id="14" name="Shape 11"/>
          <p:cNvSpPr/>
          <p:nvPr/>
        </p:nvSpPr>
        <p:spPr>
          <a:xfrm>
            <a:off x="5086350" y="4184333"/>
            <a:ext cx="3943350" cy="1991678"/>
          </a:xfrm>
          <a:prstGeom prst="rect">
            <a:avLst/>
          </a:prstGeom>
          <a:ln w="7620">
            <a:solidFill>
              <a:srgbClr val="D4AF37">
                <a:alpha val="22000"/>
              </a:srgbClr>
            </a:solidFill>
            <a:prstDash val="solid"/>
          </a:ln>
        </p:spPr>
      </p:sp>
      <p:sp>
        <p:nvSpPr>
          <p:cNvPr id="15" name="Shape 12"/>
          <p:cNvSpPr/>
          <p:nvPr/>
        </p:nvSpPr>
        <p:spPr>
          <a:xfrm>
            <a:off x="6745605" y="4534853"/>
            <a:ext cx="624840" cy="624840"/>
          </a:xfrm>
          <a:prstGeom prst="ellipse">
            <a:avLst/>
          </a:prstGeom>
          <a:ln w="7620">
            <a:solidFill>
              <a:srgbClr val="D4AF37"/>
            </a:solidFill>
            <a:prstDash val="solid"/>
          </a:ln>
        </p:spPr>
      </p:sp>
      <p:sp>
        <p:nvSpPr>
          <p:cNvPr id="16" name="Text 13"/>
          <p:cNvSpPr/>
          <p:nvPr/>
        </p:nvSpPr>
        <p:spPr>
          <a:xfrm>
            <a:off x="6715125" y="4542473"/>
            <a:ext cx="685800" cy="6477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4D773"/>
                </a:solidFill>
                <a:latin typeface="Cinzel" pitchFamily="34" charset="0"/>
                <a:ea typeface="Cinzel" pitchFamily="34" charset="-122"/>
                <a:cs typeface="Cinzel" pitchFamily="34" charset="-120"/>
              </a:rPr>
              <a:t>T</a:t>
            </a:r>
            <a:endParaRPr lang="en-US" sz="1650" dirty="0"/>
          </a:p>
        </p:txBody>
      </p:sp>
      <p:sp>
        <p:nvSpPr>
          <p:cNvPr id="17" name="Text 14"/>
          <p:cNvSpPr/>
          <p:nvPr/>
        </p:nvSpPr>
        <p:spPr>
          <a:xfrm>
            <a:off x="5309749" y="5331143"/>
            <a:ext cx="3496551" cy="289560"/>
          </a:xfrm>
          <a:prstGeom prst="rect">
            <a:avLst/>
          </a:prstGeom>
          <a:noFill/>
          <a:ln/>
        </p:spPr>
        <p:txBody>
          <a:bodyPr wrap="square" lIns="25400" tIns="25400" rIns="25400" bIns="25400" rtlCol="0" anchor="t">
            <a:normAutofit/>
          </a:bodyPr>
          <a:lstStyle/>
          <a:p>
            <a:pPr algn="ctr" indent="0" marL="0">
              <a:buNone/>
            </a:pPr>
            <a:r>
              <a:rPr lang="en-US" sz="1500" spc="60" kern="0" dirty="0">
                <a:solidFill>
                  <a:srgbClr val="F4D773"/>
                </a:solidFill>
                <a:latin typeface="Cinzel" pitchFamily="34" charset="0"/>
                <a:ea typeface="Cinzel" pitchFamily="34" charset="-122"/>
                <a:cs typeface="Cinzel" pitchFamily="34" charset="-120"/>
              </a:rPr>
              <a:t>TSS · DGT-3</a:t>
            </a:r>
            <a:endParaRPr lang="en-US" sz="1500" dirty="0"/>
          </a:p>
        </p:txBody>
      </p:sp>
      <p:sp>
        <p:nvSpPr>
          <p:cNvPr id="18" name="Text 15"/>
          <p:cNvSpPr/>
          <p:nvPr/>
        </p:nvSpPr>
        <p:spPr>
          <a:xfrm>
            <a:off x="5309749" y="5639753"/>
            <a:ext cx="3496551" cy="223838"/>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Presentación mensual · pagos AFP · ARS · Riesgos Lab.</a:t>
            </a:r>
            <a:endParaRPr lang="en-US" sz="975" dirty="0"/>
          </a:p>
        </p:txBody>
      </p:sp>
      <p:sp>
        <p:nvSpPr>
          <p:cNvPr id="19" name="Shape 16"/>
          <p:cNvSpPr/>
          <p:nvPr/>
        </p:nvSpPr>
        <p:spPr>
          <a:xfrm>
            <a:off x="9258300" y="4184333"/>
            <a:ext cx="3943350" cy="1991678"/>
          </a:xfrm>
          <a:prstGeom prst="rect">
            <a:avLst/>
          </a:prstGeom>
          <a:ln w="7620">
            <a:solidFill>
              <a:srgbClr val="D4AF37">
                <a:alpha val="22000"/>
              </a:srgbClr>
            </a:solidFill>
            <a:prstDash val="solid"/>
          </a:ln>
        </p:spPr>
      </p:sp>
      <p:sp>
        <p:nvSpPr>
          <p:cNvPr id="20" name="Shape 17"/>
          <p:cNvSpPr/>
          <p:nvPr/>
        </p:nvSpPr>
        <p:spPr>
          <a:xfrm>
            <a:off x="10917556" y="4534853"/>
            <a:ext cx="624840" cy="624840"/>
          </a:xfrm>
          <a:prstGeom prst="ellipse">
            <a:avLst/>
          </a:prstGeom>
          <a:ln w="7620">
            <a:solidFill>
              <a:srgbClr val="D4AF37"/>
            </a:solidFill>
            <a:prstDash val="solid"/>
          </a:ln>
        </p:spPr>
      </p:sp>
      <p:sp>
        <p:nvSpPr>
          <p:cNvPr id="21" name="Text 18"/>
          <p:cNvSpPr/>
          <p:nvPr/>
        </p:nvSpPr>
        <p:spPr>
          <a:xfrm>
            <a:off x="10887076" y="4542473"/>
            <a:ext cx="685800" cy="6477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4D773"/>
                </a:solidFill>
                <a:latin typeface="Cinzel" pitchFamily="34" charset="0"/>
                <a:ea typeface="Cinzel" pitchFamily="34" charset="-122"/>
                <a:cs typeface="Cinzel" pitchFamily="34" charset="-120"/>
              </a:rPr>
              <a:t>I</a:t>
            </a:r>
            <a:endParaRPr lang="en-US" sz="1650" dirty="0"/>
          </a:p>
        </p:txBody>
      </p:sp>
      <p:sp>
        <p:nvSpPr>
          <p:cNvPr id="22" name="Text 19"/>
          <p:cNvSpPr/>
          <p:nvPr/>
        </p:nvSpPr>
        <p:spPr>
          <a:xfrm>
            <a:off x="9481699" y="5331143"/>
            <a:ext cx="3496551" cy="289560"/>
          </a:xfrm>
          <a:prstGeom prst="rect">
            <a:avLst/>
          </a:prstGeom>
          <a:noFill/>
          <a:ln/>
        </p:spPr>
        <p:txBody>
          <a:bodyPr wrap="square" lIns="25400" tIns="25400" rIns="25400" bIns="25400" rtlCol="0" anchor="t">
            <a:normAutofit/>
          </a:bodyPr>
          <a:lstStyle/>
          <a:p>
            <a:pPr algn="ctr" indent="0" marL="0">
              <a:buNone/>
            </a:pPr>
            <a:r>
              <a:rPr lang="en-US" sz="1500" spc="60" kern="0" dirty="0">
                <a:solidFill>
                  <a:srgbClr val="F4D773"/>
                </a:solidFill>
                <a:latin typeface="Cinzel" pitchFamily="34" charset="0"/>
                <a:ea typeface="Cinzel" pitchFamily="34" charset="-122"/>
                <a:cs typeface="Cinzel" pitchFamily="34" charset="-120"/>
              </a:rPr>
              <a:t>INFOTEP</a:t>
            </a:r>
            <a:endParaRPr lang="en-US" sz="1500" dirty="0"/>
          </a:p>
        </p:txBody>
      </p:sp>
      <p:sp>
        <p:nvSpPr>
          <p:cNvPr id="23" name="Text 20"/>
          <p:cNvSpPr/>
          <p:nvPr/>
        </p:nvSpPr>
        <p:spPr>
          <a:xfrm>
            <a:off x="9481699" y="5639753"/>
            <a:ext cx="3496551" cy="223838"/>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Aporte 1% sobre salarios · presentación mensual</a:t>
            </a:r>
            <a:endParaRPr lang="en-US" sz="975" dirty="0"/>
          </a:p>
        </p:txBody>
      </p:sp>
      <p:sp>
        <p:nvSpPr>
          <p:cNvPr id="24" name="Shape 21"/>
          <p:cNvSpPr/>
          <p:nvPr/>
        </p:nvSpPr>
        <p:spPr>
          <a:xfrm>
            <a:off x="13430250" y="4184333"/>
            <a:ext cx="3943350" cy="1991678"/>
          </a:xfrm>
          <a:prstGeom prst="rect">
            <a:avLst/>
          </a:prstGeom>
          <a:ln w="7620">
            <a:solidFill>
              <a:srgbClr val="D4AF37">
                <a:alpha val="22000"/>
              </a:srgbClr>
            </a:solidFill>
            <a:prstDash val="solid"/>
          </a:ln>
        </p:spPr>
      </p:sp>
      <p:sp>
        <p:nvSpPr>
          <p:cNvPr id="25" name="Shape 22"/>
          <p:cNvSpPr/>
          <p:nvPr/>
        </p:nvSpPr>
        <p:spPr>
          <a:xfrm>
            <a:off x="15089506" y="4534853"/>
            <a:ext cx="624840" cy="624840"/>
          </a:xfrm>
          <a:prstGeom prst="ellipse">
            <a:avLst/>
          </a:prstGeom>
          <a:ln w="7620">
            <a:solidFill>
              <a:srgbClr val="D4AF37"/>
            </a:solidFill>
            <a:prstDash val="solid"/>
          </a:ln>
        </p:spPr>
      </p:sp>
      <p:sp>
        <p:nvSpPr>
          <p:cNvPr id="26" name="Text 23"/>
          <p:cNvSpPr/>
          <p:nvPr/>
        </p:nvSpPr>
        <p:spPr>
          <a:xfrm>
            <a:off x="15059026" y="4542473"/>
            <a:ext cx="685800" cy="647700"/>
          </a:xfrm>
          <a:prstGeom prst="rect">
            <a:avLst/>
          </a:prstGeom>
          <a:noFill/>
          <a:ln/>
        </p:spPr>
        <p:txBody>
          <a:bodyPr wrap="square" lIns="25400" tIns="25400" rIns="25400" bIns="25400" rtlCol="0" anchor="ctr">
            <a:normAutofit/>
          </a:bodyPr>
          <a:lstStyle/>
          <a:p>
            <a:pPr algn="ctr" indent="0" marL="0">
              <a:buNone/>
            </a:pPr>
            <a:r>
              <a:rPr lang="en-US" sz="1650" b="1" dirty="0">
                <a:solidFill>
                  <a:srgbClr val="F4D773"/>
                </a:solidFill>
                <a:latin typeface="Cinzel" pitchFamily="34" charset="0"/>
                <a:ea typeface="Cinzel" pitchFamily="34" charset="-122"/>
                <a:cs typeface="Cinzel" pitchFamily="34" charset="-120"/>
              </a:rPr>
              <a:t>R</a:t>
            </a:r>
            <a:endParaRPr lang="en-US" sz="1650" dirty="0"/>
          </a:p>
        </p:txBody>
      </p:sp>
      <p:sp>
        <p:nvSpPr>
          <p:cNvPr id="27" name="Text 24"/>
          <p:cNvSpPr/>
          <p:nvPr/>
        </p:nvSpPr>
        <p:spPr>
          <a:xfrm>
            <a:off x="13653650" y="5331143"/>
            <a:ext cx="3496551" cy="289560"/>
          </a:xfrm>
          <a:prstGeom prst="rect">
            <a:avLst/>
          </a:prstGeom>
          <a:noFill/>
          <a:ln/>
        </p:spPr>
        <p:txBody>
          <a:bodyPr wrap="square" lIns="25400" tIns="25400" rIns="25400" bIns="25400" rtlCol="0" anchor="t">
            <a:normAutofit/>
          </a:bodyPr>
          <a:lstStyle/>
          <a:p>
            <a:pPr algn="ctr" indent="0" marL="0">
              <a:buNone/>
            </a:pPr>
            <a:r>
              <a:rPr lang="en-US" sz="1500" spc="60" kern="0" dirty="0">
                <a:solidFill>
                  <a:srgbClr val="F4D773"/>
                </a:solidFill>
                <a:latin typeface="Cinzel" pitchFamily="34" charset="0"/>
                <a:ea typeface="Cinzel" pitchFamily="34" charset="-122"/>
                <a:cs typeface="Cinzel" pitchFamily="34" charset="-120"/>
              </a:rPr>
              <a:t>IR-3 retenciones</a:t>
            </a:r>
            <a:endParaRPr lang="en-US" sz="1500" dirty="0"/>
          </a:p>
        </p:txBody>
      </p:sp>
      <p:sp>
        <p:nvSpPr>
          <p:cNvPr id="28" name="Text 25"/>
          <p:cNvSpPr/>
          <p:nvPr/>
        </p:nvSpPr>
        <p:spPr>
          <a:xfrm>
            <a:off x="13653650" y="5639753"/>
            <a:ext cx="3496551" cy="223838"/>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Asalariados · constancias · certificaciones DGII</a:t>
            </a:r>
            <a:endParaRPr lang="en-US" sz="975" dirty="0"/>
          </a:p>
        </p:txBody>
      </p:sp>
      <p:sp>
        <p:nvSpPr>
          <p:cNvPr id="29" name="Shape 26"/>
          <p:cNvSpPr/>
          <p:nvPr/>
        </p:nvSpPr>
        <p:spPr>
          <a:xfrm>
            <a:off x="914400" y="6785610"/>
            <a:ext cx="16459200" cy="557213"/>
          </a:xfrm>
          <a:prstGeom prst="rect">
            <a:avLst/>
          </a:prstGeom>
          <a:solidFill>
            <a:srgbClr val="D4AF37">
              <a:alpha val="5000"/>
            </a:srgbClr>
          </a:solidFill>
          <a:ln/>
        </p:spPr>
      </p:sp>
      <p:sp>
        <p:nvSpPr>
          <p:cNvPr id="30" name="Shape 27"/>
          <p:cNvSpPr/>
          <p:nvPr/>
        </p:nvSpPr>
        <p:spPr>
          <a:xfrm>
            <a:off x="914400" y="6785610"/>
            <a:ext cx="15240" cy="557213"/>
          </a:xfrm>
          <a:prstGeom prst="rect">
            <a:avLst/>
          </a:prstGeom>
          <a:solidFill>
            <a:srgbClr val="D4AF37"/>
          </a:solidFill>
          <a:ln/>
        </p:spPr>
      </p:sp>
      <p:sp>
        <p:nvSpPr>
          <p:cNvPr id="31" name="Text 28"/>
          <p:cNvSpPr/>
          <p:nvPr/>
        </p:nvSpPr>
        <p:spPr>
          <a:xfrm>
            <a:off x="1158240" y="6957060"/>
            <a:ext cx="199311"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F4D773"/>
                </a:solidFill>
                <a:latin typeface="Inter" pitchFamily="34" charset="0"/>
                <a:ea typeface="Inter" pitchFamily="34" charset="-122"/>
                <a:cs typeface="Inter" pitchFamily="34" charset="-120"/>
              </a:rPr>
              <a:t>▶</a:t>
            </a:r>
            <a:endParaRPr lang="en-US" sz="1125" dirty="0"/>
          </a:p>
        </p:txBody>
      </p:sp>
      <p:sp>
        <p:nvSpPr>
          <p:cNvPr id="32" name="Text 29"/>
          <p:cNvSpPr/>
          <p:nvPr/>
        </p:nvSpPr>
        <p:spPr>
          <a:xfrm>
            <a:off x="1452801" y="6957060"/>
            <a:ext cx="10407121" cy="252413"/>
          </a:xfrm>
          <a:prstGeom prst="rect">
            <a:avLst/>
          </a:prstGeom>
          <a:noFill/>
          <a:ln/>
        </p:spPr>
        <p:txBody>
          <a:bodyPr wrap="square" lIns="25400" tIns="25400" rIns="25400" bIns="25400" rtlCol="0" anchor="t">
            <a:normAutofit/>
          </a:bodyPr>
          <a:lstStyle/>
          <a:p>
            <a:pPr algn="l" indent="0" marL="0">
              <a:lnSpc>
                <a:spcPct val="150000"/>
              </a:lnSpc>
              <a:buNone/>
            </a:pPr>
            <a:r>
              <a:rPr lang="en-US" sz="1125" dirty="0">
                <a:solidFill>
                  <a:srgbClr val="E7DDB8"/>
                </a:solidFill>
                <a:latin typeface="Inter" pitchFamily="34" charset="0"/>
                <a:ea typeface="Inter" pitchFamily="34" charset="-122"/>
                <a:cs typeface="Inter" pitchFamily="34" charset="-120"/>
              </a:rPr>
              <a:t>El cliente recibe </a:t>
            </a:r>
            <a:pPr algn="l" indent="0" marL="0">
              <a:lnSpc>
                <a:spcPct val="150000"/>
              </a:lnSpc>
              <a:buNone/>
            </a:pPr>
            <a:r>
              <a:rPr lang="en-US" sz="1125" dirty="0">
                <a:solidFill>
                  <a:srgbClr val="F4D773"/>
                </a:solidFill>
                <a:latin typeface="Inter" pitchFamily="34" charset="0"/>
                <a:ea typeface="Inter" pitchFamily="34" charset="-122"/>
                <a:cs typeface="Inter" pitchFamily="34" charset="-120"/>
              </a:rPr>
              <a:t>un solo PDF mensual </a:t>
            </a:r>
            <a:pPr algn="l" indent="0" marL="0">
              <a:lnSpc>
                <a:spcPct val="150000"/>
              </a:lnSpc>
              <a:buNone/>
            </a:pPr>
            <a:r>
              <a:rPr lang="en-US" sz="1125" dirty="0">
                <a:solidFill>
                  <a:srgbClr val="E7DDB8"/>
                </a:solidFill>
                <a:latin typeface="Inter" pitchFamily="34" charset="0"/>
                <a:ea typeface="Inter" pitchFamily="34" charset="-122"/>
                <a:cs typeface="Inter" pitchFamily="34" charset="-120"/>
              </a:rPr>
              <a:t>con todas las planillas aprobadas, presentadas y conciliadas. Sin idas y vueltas con cinco plataformas distintas.</a:t>
            </a:r>
            <a:endParaRPr lang="en-US" sz="1125" dirty="0"/>
          </a:p>
        </p:txBody>
      </p:sp>
      <p:sp>
        <p:nvSpPr>
          <p:cNvPr id="33" name="Text 30"/>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34" name="Text 31"/>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08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08 · IGUALA MENSUAL</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Planes a la medida.</a:t>
            </a:r>
            <a:endParaRPr lang="en-US" sz="6300" dirty="0"/>
          </a:p>
        </p:txBody>
      </p:sp>
      <p:sp>
        <p:nvSpPr>
          <p:cNvPr id="8" name="Shape 5"/>
          <p:cNvSpPr/>
          <p:nvPr/>
        </p:nvSpPr>
        <p:spPr>
          <a:xfrm>
            <a:off x="914400" y="3190875"/>
            <a:ext cx="3986213" cy="4269105"/>
          </a:xfrm>
          <a:prstGeom prst="rect">
            <a:avLst/>
          </a:prstGeom>
          <a:solidFill>
            <a:srgbClr val="FFFFFF">
              <a:alpha val="2000"/>
            </a:srgbClr>
          </a:solidFill>
          <a:ln w="7620">
            <a:solidFill>
              <a:srgbClr val="D4AF37">
                <a:alpha val="22000"/>
              </a:srgbClr>
            </a:solidFill>
            <a:prstDash val="solid"/>
          </a:ln>
        </p:spPr>
      </p:sp>
      <p:sp>
        <p:nvSpPr>
          <p:cNvPr id="9" name="Text 6"/>
          <p:cNvSpPr/>
          <p:nvPr/>
        </p:nvSpPr>
        <p:spPr>
          <a:xfrm>
            <a:off x="1188720" y="3541395"/>
            <a:ext cx="3540700" cy="182880"/>
          </a:xfrm>
          <a:prstGeom prst="rect">
            <a:avLst/>
          </a:prstGeom>
          <a:noFill/>
          <a:ln/>
        </p:spPr>
        <p:txBody>
          <a:bodyPr wrap="square" lIns="25400" tIns="25400" rIns="25400" bIns="25400" rtlCol="0" anchor="t">
            <a:normAutofit/>
          </a:bodyPr>
          <a:lstStyle/>
          <a:p>
            <a:pPr algn="l" indent="0" marL="0">
              <a:buNone/>
            </a:pPr>
            <a:r>
              <a:rPr lang="en-US" sz="900" b="1" spc="288" kern="0" dirty="0">
                <a:solidFill>
                  <a:srgbClr val="8B5E1A"/>
                </a:solidFill>
                <a:latin typeface="Montserrat" pitchFamily="34" charset="0"/>
                <a:ea typeface="Montserrat" pitchFamily="34" charset="-122"/>
                <a:cs typeface="Montserrat" pitchFamily="34" charset="-120"/>
              </a:rPr>
              <a:t>01 · BÁSICO</a:t>
            </a:r>
            <a:endParaRPr lang="en-US" sz="900" dirty="0"/>
          </a:p>
        </p:txBody>
      </p:sp>
      <p:sp>
        <p:nvSpPr>
          <p:cNvPr id="10" name="Text 7"/>
          <p:cNvSpPr/>
          <p:nvPr/>
        </p:nvSpPr>
        <p:spPr>
          <a:xfrm>
            <a:off x="1188720" y="3762375"/>
            <a:ext cx="3540700" cy="42672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F4D773"/>
                </a:solidFill>
                <a:latin typeface="Cinzel" pitchFamily="34" charset="0"/>
                <a:ea typeface="Cinzel" pitchFamily="34" charset="-122"/>
                <a:cs typeface="Cinzel" pitchFamily="34" charset="-120"/>
              </a:rPr>
              <a:t>Básico</a:t>
            </a:r>
            <a:endParaRPr lang="en-US" sz="2250" dirty="0"/>
          </a:p>
        </p:txBody>
      </p:sp>
      <p:sp>
        <p:nvSpPr>
          <p:cNvPr id="11" name="Text 8"/>
          <p:cNvSpPr/>
          <p:nvPr/>
        </p:nvSpPr>
        <p:spPr>
          <a:xfrm>
            <a:off x="1188720" y="4265295"/>
            <a:ext cx="1581150" cy="342900"/>
          </a:xfrm>
          <a:prstGeom prst="rect">
            <a:avLst/>
          </a:prstGeom>
          <a:noFill/>
          <a:ln/>
        </p:spPr>
        <p:txBody>
          <a:bodyPr wrap="square" lIns="0" tIns="0" rIns="0" bIns="0" rtlCol="0" anchor="t">
            <a:normAutofit/>
          </a:bodyPr>
          <a:lstStyle/>
          <a:p>
            <a:pPr algn="l" indent="0" marL="0">
              <a:buNone/>
            </a:pPr>
            <a:r>
              <a:rPr lang="en-US" sz="1800" dirty="0">
                <a:solidFill>
                  <a:srgbClr val="E7DDB8"/>
                </a:solidFill>
                <a:latin typeface="Cinzel" pitchFamily="34" charset="0"/>
                <a:ea typeface="Cinzel" pitchFamily="34" charset="-122"/>
                <a:cs typeface="Cinzel" pitchFamily="34" charset="-120"/>
              </a:rPr>
              <a:t>RD$ [XX,XXX]</a:t>
            </a:r>
            <a:endParaRPr lang="en-US" sz="1800" dirty="0"/>
          </a:p>
        </p:txBody>
      </p:sp>
      <p:sp>
        <p:nvSpPr>
          <p:cNvPr id="12" name="Text 9"/>
          <p:cNvSpPr/>
          <p:nvPr/>
        </p:nvSpPr>
        <p:spPr>
          <a:xfrm>
            <a:off x="1188720" y="4608195"/>
            <a:ext cx="3540700"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6B6759"/>
                </a:solidFill>
                <a:latin typeface="Inter" pitchFamily="34" charset="0"/>
                <a:ea typeface="Inter" pitchFamily="34" charset="-122"/>
                <a:cs typeface="Inter" pitchFamily="34" charset="-120"/>
              </a:rPr>
              <a:t>/ MES</a:t>
            </a:r>
            <a:endParaRPr lang="en-US" sz="825" dirty="0"/>
          </a:p>
        </p:txBody>
      </p:sp>
      <p:sp>
        <p:nvSpPr>
          <p:cNvPr id="13" name="Shape 10"/>
          <p:cNvSpPr/>
          <p:nvPr/>
        </p:nvSpPr>
        <p:spPr>
          <a:xfrm>
            <a:off x="1188720" y="4958715"/>
            <a:ext cx="3437572" cy="9525"/>
          </a:xfrm>
          <a:prstGeom prst="rect">
            <a:avLst/>
          </a:prstGeom>
          <a:solidFill>
            <a:srgbClr val="D4AF37"/>
          </a:solidFill>
          <a:ln/>
        </p:spPr>
      </p:sp>
      <p:sp>
        <p:nvSpPr>
          <p:cNvPr id="14" name="Text 11"/>
          <p:cNvSpPr/>
          <p:nvPr/>
        </p:nvSpPr>
        <p:spPr>
          <a:xfrm>
            <a:off x="1087120" y="5120640"/>
            <a:ext cx="3615372" cy="1409700"/>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Contabilidad mensual hasta 50 transac.</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EE.FF. trimestrales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ITBIS · 606 · 607</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IR-2 anual</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Soporte email</a:t>
            </a:r>
            <a:endParaRPr lang="en-US" sz="975" dirty="0"/>
          </a:p>
        </p:txBody>
      </p:sp>
      <p:sp>
        <p:nvSpPr>
          <p:cNvPr id="15" name="Text 12"/>
          <p:cNvSpPr/>
          <p:nvPr/>
        </p:nvSpPr>
        <p:spPr>
          <a:xfrm>
            <a:off x="1188720" y="6720840"/>
            <a:ext cx="3540700" cy="152400"/>
          </a:xfrm>
          <a:prstGeom prst="rect">
            <a:avLst/>
          </a:prstGeom>
          <a:noFill/>
          <a:ln/>
        </p:spPr>
        <p:txBody>
          <a:bodyPr wrap="square" lIns="25400" tIns="25400" rIns="25400" bIns="25400" rtlCol="0" anchor="t">
            <a:normAutofit/>
          </a:bodyPr>
          <a:lstStyle/>
          <a:p>
            <a:pPr algn="l" indent="0" marL="0">
              <a:buNone/>
            </a:pPr>
            <a:r>
              <a:rPr lang="en-US" sz="788" spc="110" kern="0" dirty="0">
                <a:solidFill>
                  <a:srgbClr val="6B6759"/>
                </a:solidFill>
                <a:latin typeface="Courier New" pitchFamily="34" charset="0"/>
                <a:ea typeface="Courier New" pitchFamily="34" charset="-122"/>
                <a:cs typeface="Courier New" pitchFamily="34" charset="-120"/>
              </a:rPr>
              <a:t>INICIO OPERACIONES · 1 RNC</a:t>
            </a:r>
            <a:endParaRPr lang="en-US" sz="788" dirty="0"/>
          </a:p>
        </p:txBody>
      </p:sp>
      <p:sp>
        <p:nvSpPr>
          <p:cNvPr id="16" name="Shape 13"/>
          <p:cNvSpPr/>
          <p:nvPr/>
        </p:nvSpPr>
        <p:spPr>
          <a:xfrm>
            <a:off x="5072063" y="3190875"/>
            <a:ext cx="3986213" cy="4269105"/>
          </a:xfrm>
          <a:prstGeom prst="rect">
            <a:avLst/>
          </a:prstGeom>
          <a:solidFill>
            <a:srgbClr val="D4AF37">
              <a:alpha val="8000"/>
            </a:srgbClr>
          </a:solidFill>
          <a:ln w="7620">
            <a:solidFill>
              <a:srgbClr val="D4AF37"/>
            </a:solidFill>
            <a:prstDash val="solid"/>
          </a:ln>
        </p:spPr>
      </p:sp>
      <p:sp>
        <p:nvSpPr>
          <p:cNvPr id="17" name="Text 14"/>
          <p:cNvSpPr/>
          <p:nvPr/>
        </p:nvSpPr>
        <p:spPr>
          <a:xfrm>
            <a:off x="5346382" y="3541395"/>
            <a:ext cx="3540700" cy="182880"/>
          </a:xfrm>
          <a:prstGeom prst="rect">
            <a:avLst/>
          </a:prstGeom>
          <a:noFill/>
          <a:ln/>
        </p:spPr>
        <p:txBody>
          <a:bodyPr wrap="square" lIns="25400" tIns="25400" rIns="25400" bIns="25400" rtlCol="0" anchor="t">
            <a:normAutofit/>
          </a:bodyPr>
          <a:lstStyle/>
          <a:p>
            <a:pPr algn="l" indent="0" marL="0">
              <a:buNone/>
            </a:pPr>
            <a:r>
              <a:rPr lang="en-US" sz="900" b="1" spc="288" kern="0" dirty="0">
                <a:solidFill>
                  <a:srgbClr val="8B5E1A"/>
                </a:solidFill>
                <a:latin typeface="Montserrat" pitchFamily="34" charset="0"/>
                <a:ea typeface="Montserrat" pitchFamily="34" charset="-122"/>
                <a:cs typeface="Montserrat" pitchFamily="34" charset="-120"/>
              </a:rPr>
              <a:t>02 · ESTÁNDAR</a:t>
            </a:r>
            <a:endParaRPr lang="en-US" sz="900" dirty="0"/>
          </a:p>
        </p:txBody>
      </p:sp>
      <p:sp>
        <p:nvSpPr>
          <p:cNvPr id="18" name="Text 15"/>
          <p:cNvSpPr/>
          <p:nvPr/>
        </p:nvSpPr>
        <p:spPr>
          <a:xfrm>
            <a:off x="5346382" y="3762375"/>
            <a:ext cx="3540700" cy="42672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F4D773"/>
                </a:solidFill>
                <a:latin typeface="Cinzel" pitchFamily="34" charset="0"/>
                <a:ea typeface="Cinzel" pitchFamily="34" charset="-122"/>
                <a:cs typeface="Cinzel" pitchFamily="34" charset="-120"/>
              </a:rPr>
              <a:t>Estándar</a:t>
            </a:r>
            <a:endParaRPr lang="en-US" sz="2250" dirty="0"/>
          </a:p>
        </p:txBody>
      </p:sp>
      <p:sp>
        <p:nvSpPr>
          <p:cNvPr id="19" name="Text 16"/>
          <p:cNvSpPr/>
          <p:nvPr/>
        </p:nvSpPr>
        <p:spPr>
          <a:xfrm>
            <a:off x="5346382" y="4265295"/>
            <a:ext cx="1581150" cy="342900"/>
          </a:xfrm>
          <a:prstGeom prst="rect">
            <a:avLst/>
          </a:prstGeom>
          <a:noFill/>
          <a:ln/>
        </p:spPr>
        <p:txBody>
          <a:bodyPr wrap="square" lIns="0" tIns="0" rIns="0" bIns="0" rtlCol="0" anchor="t">
            <a:normAutofit/>
          </a:bodyPr>
          <a:lstStyle/>
          <a:p>
            <a:pPr algn="l" indent="0" marL="0">
              <a:buNone/>
            </a:pPr>
            <a:r>
              <a:rPr lang="en-US" sz="1800" dirty="0">
                <a:solidFill>
                  <a:srgbClr val="E7DDB8"/>
                </a:solidFill>
                <a:latin typeface="Cinzel" pitchFamily="34" charset="0"/>
                <a:ea typeface="Cinzel" pitchFamily="34" charset="-122"/>
                <a:cs typeface="Cinzel" pitchFamily="34" charset="-120"/>
              </a:rPr>
              <a:t>RD$ [XX,XXX]</a:t>
            </a:r>
            <a:endParaRPr lang="en-US" sz="1800" dirty="0"/>
          </a:p>
        </p:txBody>
      </p:sp>
      <p:sp>
        <p:nvSpPr>
          <p:cNvPr id="20" name="Text 17"/>
          <p:cNvSpPr/>
          <p:nvPr/>
        </p:nvSpPr>
        <p:spPr>
          <a:xfrm>
            <a:off x="5346382" y="4608195"/>
            <a:ext cx="3540700"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6B6759"/>
                </a:solidFill>
                <a:latin typeface="Inter" pitchFamily="34" charset="0"/>
                <a:ea typeface="Inter" pitchFamily="34" charset="-122"/>
                <a:cs typeface="Inter" pitchFamily="34" charset="-120"/>
              </a:rPr>
              <a:t>/ MES</a:t>
            </a:r>
            <a:endParaRPr lang="en-US" sz="825" dirty="0"/>
          </a:p>
        </p:txBody>
      </p:sp>
      <p:sp>
        <p:nvSpPr>
          <p:cNvPr id="21" name="Shape 18"/>
          <p:cNvSpPr/>
          <p:nvPr/>
        </p:nvSpPr>
        <p:spPr>
          <a:xfrm>
            <a:off x="5346382" y="4958715"/>
            <a:ext cx="3437572" cy="9525"/>
          </a:xfrm>
          <a:prstGeom prst="rect">
            <a:avLst/>
          </a:prstGeom>
          <a:solidFill>
            <a:srgbClr val="D4AF37"/>
          </a:solidFill>
          <a:ln/>
        </p:spPr>
      </p:sp>
      <p:sp>
        <p:nvSpPr>
          <p:cNvPr id="22" name="Text 19"/>
          <p:cNvSpPr/>
          <p:nvPr/>
        </p:nvSpPr>
        <p:spPr>
          <a:xfrm>
            <a:off x="5244782" y="5120640"/>
            <a:ext cx="3615372" cy="1684020"/>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Contabilidad hasta 200 transac.</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EE.FF. mensuales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Todas las decl. DGII</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Nómina hasta 15 empleados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TSS · INFOTEP · IR-3</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Soporte WhatsApp 8h</a:t>
            </a:r>
            <a:endParaRPr lang="en-US" sz="975" dirty="0"/>
          </a:p>
        </p:txBody>
      </p:sp>
      <p:sp>
        <p:nvSpPr>
          <p:cNvPr id="23" name="Text 20"/>
          <p:cNvSpPr/>
          <p:nvPr/>
        </p:nvSpPr>
        <p:spPr>
          <a:xfrm>
            <a:off x="5346382" y="6995160"/>
            <a:ext cx="3540700" cy="152400"/>
          </a:xfrm>
          <a:prstGeom prst="rect">
            <a:avLst/>
          </a:prstGeom>
          <a:noFill/>
          <a:ln/>
        </p:spPr>
        <p:txBody>
          <a:bodyPr wrap="square" lIns="25400" tIns="25400" rIns="25400" bIns="25400" rtlCol="0" anchor="t">
            <a:normAutofit/>
          </a:bodyPr>
          <a:lstStyle/>
          <a:p>
            <a:pPr algn="l" indent="0" marL="0">
              <a:buNone/>
            </a:pPr>
            <a:r>
              <a:rPr lang="en-US" sz="788" spc="110" kern="0" dirty="0">
                <a:solidFill>
                  <a:srgbClr val="6B6759"/>
                </a:solidFill>
                <a:latin typeface="Courier New" pitchFamily="34" charset="0"/>
                <a:ea typeface="Courier New" pitchFamily="34" charset="-122"/>
                <a:cs typeface="Courier New" pitchFamily="34" charset="-120"/>
              </a:rPr>
              <a:t>PYME EN CRECIMIENTO · 1 RNC</a:t>
            </a:r>
            <a:endParaRPr lang="en-US" sz="788" dirty="0"/>
          </a:p>
        </p:txBody>
      </p:sp>
      <p:sp>
        <p:nvSpPr>
          <p:cNvPr id="24" name="Shape 21"/>
          <p:cNvSpPr/>
          <p:nvPr/>
        </p:nvSpPr>
        <p:spPr>
          <a:xfrm>
            <a:off x="9229725" y="3190875"/>
            <a:ext cx="3986213" cy="4269105"/>
          </a:xfrm>
          <a:prstGeom prst="rect">
            <a:avLst/>
          </a:prstGeom>
          <a:solidFill>
            <a:srgbClr val="FFFFFF">
              <a:alpha val="2000"/>
            </a:srgbClr>
          </a:solidFill>
          <a:ln w="7620">
            <a:solidFill>
              <a:srgbClr val="D4AF37">
                <a:alpha val="22000"/>
              </a:srgbClr>
            </a:solidFill>
            <a:prstDash val="solid"/>
          </a:ln>
        </p:spPr>
      </p:sp>
      <p:sp>
        <p:nvSpPr>
          <p:cNvPr id="25" name="Text 22"/>
          <p:cNvSpPr/>
          <p:nvPr/>
        </p:nvSpPr>
        <p:spPr>
          <a:xfrm>
            <a:off x="9504045" y="3541395"/>
            <a:ext cx="3540700" cy="182880"/>
          </a:xfrm>
          <a:prstGeom prst="rect">
            <a:avLst/>
          </a:prstGeom>
          <a:noFill/>
          <a:ln/>
        </p:spPr>
        <p:txBody>
          <a:bodyPr wrap="square" lIns="25400" tIns="25400" rIns="25400" bIns="25400" rtlCol="0" anchor="t">
            <a:normAutofit/>
          </a:bodyPr>
          <a:lstStyle/>
          <a:p>
            <a:pPr algn="l" indent="0" marL="0">
              <a:buNone/>
            </a:pPr>
            <a:r>
              <a:rPr lang="en-US" sz="900" b="1" spc="288" kern="0" dirty="0">
                <a:solidFill>
                  <a:srgbClr val="8B5E1A"/>
                </a:solidFill>
                <a:latin typeface="Montserrat" pitchFamily="34" charset="0"/>
                <a:ea typeface="Montserrat" pitchFamily="34" charset="-122"/>
                <a:cs typeface="Montserrat" pitchFamily="34" charset="-120"/>
              </a:rPr>
              <a:t>03 · PREMIUM</a:t>
            </a:r>
            <a:endParaRPr lang="en-US" sz="900" dirty="0"/>
          </a:p>
        </p:txBody>
      </p:sp>
      <p:sp>
        <p:nvSpPr>
          <p:cNvPr id="26" name="Text 23"/>
          <p:cNvSpPr/>
          <p:nvPr/>
        </p:nvSpPr>
        <p:spPr>
          <a:xfrm>
            <a:off x="9504045" y="3762375"/>
            <a:ext cx="3540700" cy="42672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F4D773"/>
                </a:solidFill>
                <a:latin typeface="Cinzel" pitchFamily="34" charset="0"/>
                <a:ea typeface="Cinzel" pitchFamily="34" charset="-122"/>
                <a:cs typeface="Cinzel" pitchFamily="34" charset="-120"/>
              </a:rPr>
              <a:t>Premium</a:t>
            </a:r>
            <a:endParaRPr lang="en-US" sz="2250" dirty="0"/>
          </a:p>
        </p:txBody>
      </p:sp>
      <p:sp>
        <p:nvSpPr>
          <p:cNvPr id="27" name="Text 24"/>
          <p:cNvSpPr/>
          <p:nvPr/>
        </p:nvSpPr>
        <p:spPr>
          <a:xfrm>
            <a:off x="9504045" y="4265295"/>
            <a:ext cx="1581151" cy="342900"/>
          </a:xfrm>
          <a:prstGeom prst="rect">
            <a:avLst/>
          </a:prstGeom>
          <a:noFill/>
          <a:ln/>
        </p:spPr>
        <p:txBody>
          <a:bodyPr wrap="square" lIns="0" tIns="0" rIns="0" bIns="0" rtlCol="0" anchor="t">
            <a:normAutofit/>
          </a:bodyPr>
          <a:lstStyle/>
          <a:p>
            <a:pPr algn="l" indent="0" marL="0">
              <a:buNone/>
            </a:pPr>
            <a:r>
              <a:rPr lang="en-US" sz="1800" dirty="0">
                <a:solidFill>
                  <a:srgbClr val="E7DDB8"/>
                </a:solidFill>
                <a:latin typeface="Cinzel" pitchFamily="34" charset="0"/>
                <a:ea typeface="Cinzel" pitchFamily="34" charset="-122"/>
                <a:cs typeface="Cinzel" pitchFamily="34" charset="-120"/>
              </a:rPr>
              <a:t>RD$ [XX,XXX]</a:t>
            </a:r>
            <a:endParaRPr lang="en-US" sz="1800" dirty="0"/>
          </a:p>
        </p:txBody>
      </p:sp>
      <p:sp>
        <p:nvSpPr>
          <p:cNvPr id="28" name="Text 25"/>
          <p:cNvSpPr/>
          <p:nvPr/>
        </p:nvSpPr>
        <p:spPr>
          <a:xfrm>
            <a:off x="9504045" y="4608195"/>
            <a:ext cx="3540700"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6B6759"/>
                </a:solidFill>
                <a:latin typeface="Inter" pitchFamily="34" charset="0"/>
                <a:ea typeface="Inter" pitchFamily="34" charset="-122"/>
                <a:cs typeface="Inter" pitchFamily="34" charset="-120"/>
              </a:rPr>
              <a:t>/ MES</a:t>
            </a:r>
            <a:endParaRPr lang="en-US" sz="825" dirty="0"/>
          </a:p>
        </p:txBody>
      </p:sp>
      <p:sp>
        <p:nvSpPr>
          <p:cNvPr id="29" name="Shape 26"/>
          <p:cNvSpPr/>
          <p:nvPr/>
        </p:nvSpPr>
        <p:spPr>
          <a:xfrm>
            <a:off x="9504045" y="4958715"/>
            <a:ext cx="3437572" cy="9525"/>
          </a:xfrm>
          <a:prstGeom prst="rect">
            <a:avLst/>
          </a:prstGeom>
          <a:solidFill>
            <a:srgbClr val="D4AF37"/>
          </a:solidFill>
          <a:ln/>
        </p:spPr>
      </p:sp>
      <p:sp>
        <p:nvSpPr>
          <p:cNvPr id="30" name="Text 27"/>
          <p:cNvSpPr/>
          <p:nvPr/>
        </p:nvSpPr>
        <p:spPr>
          <a:xfrm>
            <a:off x="9402445" y="5120640"/>
            <a:ext cx="3615372" cy="1684020"/>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Contabilidad hasta 500 transac.</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Conciliaciones bancarias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Reportes ejecutivos mensuales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Nómina hasta 50 empleados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Auditoría interna trimestral</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Soporte dedicado &lt; 24h</a:t>
            </a:r>
            <a:endParaRPr lang="en-US" sz="975" dirty="0"/>
          </a:p>
        </p:txBody>
      </p:sp>
      <p:sp>
        <p:nvSpPr>
          <p:cNvPr id="31" name="Text 28"/>
          <p:cNvSpPr/>
          <p:nvPr/>
        </p:nvSpPr>
        <p:spPr>
          <a:xfrm>
            <a:off x="9504045" y="6995160"/>
            <a:ext cx="3540700" cy="152400"/>
          </a:xfrm>
          <a:prstGeom prst="rect">
            <a:avLst/>
          </a:prstGeom>
          <a:noFill/>
          <a:ln/>
        </p:spPr>
        <p:txBody>
          <a:bodyPr wrap="square" lIns="25400" tIns="25400" rIns="25400" bIns="25400" rtlCol="0" anchor="t">
            <a:normAutofit/>
          </a:bodyPr>
          <a:lstStyle/>
          <a:p>
            <a:pPr algn="l" indent="0" marL="0">
              <a:buNone/>
            </a:pPr>
            <a:r>
              <a:rPr lang="en-US" sz="788" spc="110" kern="0" dirty="0">
                <a:solidFill>
                  <a:srgbClr val="6B6759"/>
                </a:solidFill>
                <a:latin typeface="Courier New" pitchFamily="34" charset="0"/>
                <a:ea typeface="Courier New" pitchFamily="34" charset="-122"/>
                <a:cs typeface="Courier New" pitchFamily="34" charset="-120"/>
              </a:rPr>
              <a:t>EMPRESA MEDIANA · 1-2 RNC</a:t>
            </a:r>
            <a:endParaRPr lang="en-US" sz="788" dirty="0"/>
          </a:p>
        </p:txBody>
      </p:sp>
      <p:sp>
        <p:nvSpPr>
          <p:cNvPr id="32" name="Shape 29"/>
          <p:cNvSpPr/>
          <p:nvPr/>
        </p:nvSpPr>
        <p:spPr>
          <a:xfrm>
            <a:off x="13387388" y="3190875"/>
            <a:ext cx="3986213" cy="4269105"/>
          </a:xfrm>
          <a:prstGeom prst="rect">
            <a:avLst/>
          </a:prstGeom>
          <a:solidFill>
            <a:srgbClr val="FFFFFF">
              <a:alpha val="2000"/>
            </a:srgbClr>
          </a:solidFill>
          <a:ln w="7620">
            <a:solidFill>
              <a:srgbClr val="D4AF37">
                <a:alpha val="22000"/>
              </a:srgbClr>
            </a:solidFill>
            <a:prstDash val="solid"/>
          </a:ln>
        </p:spPr>
      </p:sp>
      <p:sp>
        <p:nvSpPr>
          <p:cNvPr id="33" name="Text 30"/>
          <p:cNvSpPr/>
          <p:nvPr/>
        </p:nvSpPr>
        <p:spPr>
          <a:xfrm>
            <a:off x="13661708" y="3541395"/>
            <a:ext cx="3540700" cy="182880"/>
          </a:xfrm>
          <a:prstGeom prst="rect">
            <a:avLst/>
          </a:prstGeom>
          <a:noFill/>
          <a:ln/>
        </p:spPr>
        <p:txBody>
          <a:bodyPr wrap="square" lIns="25400" tIns="25400" rIns="25400" bIns="25400" rtlCol="0" anchor="t">
            <a:normAutofit/>
          </a:bodyPr>
          <a:lstStyle/>
          <a:p>
            <a:pPr algn="l" indent="0" marL="0">
              <a:buNone/>
            </a:pPr>
            <a:r>
              <a:rPr lang="en-US" sz="900" b="1" spc="288" kern="0" dirty="0">
                <a:solidFill>
                  <a:srgbClr val="8B5E1A"/>
                </a:solidFill>
                <a:latin typeface="Montserrat" pitchFamily="34" charset="0"/>
                <a:ea typeface="Montserrat" pitchFamily="34" charset="-122"/>
                <a:cs typeface="Montserrat" pitchFamily="34" charset="-120"/>
              </a:rPr>
              <a:t>04 · CORPORATIVO</a:t>
            </a:r>
            <a:endParaRPr lang="en-US" sz="900" dirty="0"/>
          </a:p>
        </p:txBody>
      </p:sp>
      <p:sp>
        <p:nvSpPr>
          <p:cNvPr id="34" name="Text 31"/>
          <p:cNvSpPr/>
          <p:nvPr/>
        </p:nvSpPr>
        <p:spPr>
          <a:xfrm>
            <a:off x="13661708" y="3762375"/>
            <a:ext cx="3540700" cy="426720"/>
          </a:xfrm>
          <a:prstGeom prst="rect">
            <a:avLst/>
          </a:prstGeom>
          <a:noFill/>
          <a:ln/>
        </p:spPr>
        <p:txBody>
          <a:bodyPr wrap="square" lIns="25400" tIns="25400" rIns="25400" bIns="25400" rtlCol="0" anchor="t">
            <a:normAutofit/>
          </a:bodyPr>
          <a:lstStyle/>
          <a:p>
            <a:pPr algn="l" indent="0" marL="0">
              <a:buNone/>
            </a:pPr>
            <a:r>
              <a:rPr lang="en-US" sz="2250" b="1" spc="45" kern="0" dirty="0">
                <a:solidFill>
                  <a:srgbClr val="F4D773"/>
                </a:solidFill>
                <a:latin typeface="Cinzel" pitchFamily="34" charset="0"/>
                <a:ea typeface="Cinzel" pitchFamily="34" charset="-122"/>
                <a:cs typeface="Cinzel" pitchFamily="34" charset="-120"/>
              </a:rPr>
              <a:t>Corporativo</a:t>
            </a:r>
            <a:endParaRPr lang="en-US" sz="2250" dirty="0"/>
          </a:p>
        </p:txBody>
      </p:sp>
      <p:sp>
        <p:nvSpPr>
          <p:cNvPr id="35" name="Text 32"/>
          <p:cNvSpPr/>
          <p:nvPr/>
        </p:nvSpPr>
        <p:spPr>
          <a:xfrm>
            <a:off x="13661708" y="4265295"/>
            <a:ext cx="1737479" cy="342900"/>
          </a:xfrm>
          <a:prstGeom prst="rect">
            <a:avLst/>
          </a:prstGeom>
          <a:noFill/>
          <a:ln/>
        </p:spPr>
        <p:txBody>
          <a:bodyPr wrap="square" lIns="0" tIns="0" rIns="0" bIns="0" rtlCol="0" anchor="t">
            <a:normAutofit/>
          </a:bodyPr>
          <a:lstStyle/>
          <a:p>
            <a:pPr algn="l" indent="0" marL="0">
              <a:buNone/>
            </a:pPr>
            <a:r>
              <a:rPr lang="en-US" sz="1800" dirty="0">
                <a:solidFill>
                  <a:srgbClr val="E7DDB8"/>
                </a:solidFill>
                <a:latin typeface="Cinzel" pitchFamily="34" charset="0"/>
                <a:ea typeface="Cinzel" pitchFamily="34" charset="-122"/>
                <a:cs typeface="Cinzel" pitchFamily="34" charset="-120"/>
              </a:rPr>
              <a:t>RD$ [XXX,XXX]</a:t>
            </a:r>
            <a:endParaRPr lang="en-US" sz="1800" dirty="0"/>
          </a:p>
        </p:txBody>
      </p:sp>
      <p:sp>
        <p:nvSpPr>
          <p:cNvPr id="36" name="Text 33"/>
          <p:cNvSpPr/>
          <p:nvPr/>
        </p:nvSpPr>
        <p:spPr>
          <a:xfrm>
            <a:off x="13661708" y="4608195"/>
            <a:ext cx="3540700" cy="16002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6B6759"/>
                </a:solidFill>
                <a:latin typeface="Inter" pitchFamily="34" charset="0"/>
                <a:ea typeface="Inter" pitchFamily="34" charset="-122"/>
                <a:cs typeface="Inter" pitchFamily="34" charset="-120"/>
              </a:rPr>
              <a:t>/ MES</a:t>
            </a:r>
            <a:endParaRPr lang="en-US" sz="825" dirty="0"/>
          </a:p>
        </p:txBody>
      </p:sp>
      <p:sp>
        <p:nvSpPr>
          <p:cNvPr id="37" name="Shape 34"/>
          <p:cNvSpPr/>
          <p:nvPr/>
        </p:nvSpPr>
        <p:spPr>
          <a:xfrm>
            <a:off x="13661708" y="4958715"/>
            <a:ext cx="3437572" cy="9525"/>
          </a:xfrm>
          <a:prstGeom prst="rect">
            <a:avLst/>
          </a:prstGeom>
          <a:solidFill>
            <a:srgbClr val="D4AF37"/>
          </a:solidFill>
          <a:ln/>
        </p:spPr>
      </p:sp>
      <p:sp>
        <p:nvSpPr>
          <p:cNvPr id="38" name="Text 35"/>
          <p:cNvSpPr/>
          <p:nvPr/>
        </p:nvSpPr>
        <p:spPr>
          <a:xfrm>
            <a:off x="13560108" y="5120640"/>
            <a:ext cx="3615372" cy="1684020"/>
          </a:xfrm>
          <a:prstGeom prst="rect">
            <a:avLst/>
          </a:prstGeom>
          <a:noFill/>
          <a:ln/>
        </p:spPr>
        <p:txBody>
          <a:bodyPr wrap="square" lIns="25400" tIns="25400" rIns="25400" bIns="25400" rtlCol="0" anchor="t">
            <a:normAutofit/>
          </a:bodyPr>
          <a:lstStyle/>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Múltiples RNC · holding</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Consolidación financiera</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Due Diligence anual</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Auditoría externa incluida</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Reuniones ejecutivas mensuales</a:t>
            </a:r>
            <a:endParaRPr lang="en-US" sz="975" dirty="0"/>
          </a:p>
          <a:p>
            <a:pPr algn="l" indent="0" marL="0">
              <a:lnSpc>
                <a:spcPct val="160000"/>
              </a:lnSpc>
              <a:buNone/>
            </a:pPr>
            <a:r>
              <a:rPr lang="en-US" sz="975" dirty="0">
                <a:solidFill>
                  <a:srgbClr val="BCB29A"/>
                </a:solidFill>
                <a:latin typeface="Inter" pitchFamily="34" charset="0"/>
                <a:ea typeface="Inter" pitchFamily="34" charset="-122"/>
                <a:cs typeface="Inter" pitchFamily="34" charset="-120"/>
              </a:rPr>
              <a:t>Línea directa con Socio Director</a:t>
            </a:r>
            <a:endParaRPr lang="en-US" sz="975" dirty="0"/>
          </a:p>
        </p:txBody>
      </p:sp>
      <p:sp>
        <p:nvSpPr>
          <p:cNvPr id="39" name="Text 36"/>
          <p:cNvSpPr/>
          <p:nvPr/>
        </p:nvSpPr>
        <p:spPr>
          <a:xfrm>
            <a:off x="13661708" y="6995160"/>
            <a:ext cx="3540700" cy="152400"/>
          </a:xfrm>
          <a:prstGeom prst="rect">
            <a:avLst/>
          </a:prstGeom>
          <a:noFill/>
          <a:ln/>
        </p:spPr>
        <p:txBody>
          <a:bodyPr wrap="square" lIns="25400" tIns="25400" rIns="25400" bIns="25400" rtlCol="0" anchor="t">
            <a:normAutofit/>
          </a:bodyPr>
          <a:lstStyle/>
          <a:p>
            <a:pPr algn="l" indent="0" marL="0">
              <a:buNone/>
            </a:pPr>
            <a:r>
              <a:rPr lang="en-US" sz="788" spc="110" kern="0" dirty="0">
                <a:solidFill>
                  <a:srgbClr val="6B6759"/>
                </a:solidFill>
                <a:latin typeface="Courier New" pitchFamily="34" charset="0"/>
                <a:ea typeface="Courier New" pitchFamily="34" charset="-122"/>
                <a:cs typeface="Courier New" pitchFamily="34" charset="-120"/>
              </a:rPr>
              <a:t>GRUPO EMPRESARIAL · 3+ RNC</a:t>
            </a:r>
            <a:endParaRPr lang="en-US" sz="788" dirty="0"/>
          </a:p>
        </p:txBody>
      </p:sp>
      <p:sp>
        <p:nvSpPr>
          <p:cNvPr id="40" name="Text 37"/>
          <p:cNvSpPr/>
          <p:nvPr/>
        </p:nvSpPr>
        <p:spPr>
          <a:xfrm>
            <a:off x="667512" y="7764780"/>
            <a:ext cx="16952976" cy="190500"/>
          </a:xfrm>
          <a:prstGeom prst="rect">
            <a:avLst/>
          </a:prstGeom>
          <a:noFill/>
          <a:ln/>
        </p:spPr>
        <p:txBody>
          <a:bodyPr wrap="square" lIns="25400" tIns="25400" rIns="25400" bIns="25400" rtlCol="0" anchor="t">
            <a:normAutofit/>
          </a:bodyPr>
          <a:lstStyle/>
          <a:p>
            <a:pPr algn="ctr" indent="0" marL="0">
              <a:buNone/>
            </a:pPr>
            <a:r>
              <a:rPr lang="en-US" sz="975" spc="20" kern="0" dirty="0">
                <a:solidFill>
                  <a:srgbClr val="6B6759"/>
                </a:solidFill>
                <a:latin typeface="Inter" pitchFamily="34" charset="0"/>
                <a:ea typeface="Inter" pitchFamily="34" charset="-122"/>
                <a:cs typeface="Inter" pitchFamily="34" charset="-120"/>
              </a:rPr>
              <a:t>Precios sujetos a alcance, volumen transaccional y cantidad de empleados · Cotización formal en 3 días hábiles</a:t>
            </a:r>
            <a:endParaRPr lang="en-US" sz="975" dirty="0"/>
          </a:p>
        </p:txBody>
      </p:sp>
      <p:sp>
        <p:nvSpPr>
          <p:cNvPr id="41" name="Text 38"/>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42" name="Text 39"/>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09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09 · RESULTADOS VERIFICABLES</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Casos de éxito.</a:t>
            </a:r>
            <a:endParaRPr lang="en-US" sz="6300" dirty="0"/>
          </a:p>
        </p:txBody>
      </p:sp>
      <p:sp>
        <p:nvSpPr>
          <p:cNvPr id="8" name="Shape 5"/>
          <p:cNvSpPr/>
          <p:nvPr/>
        </p:nvSpPr>
        <p:spPr>
          <a:xfrm>
            <a:off x="914400" y="3305175"/>
            <a:ext cx="5308521" cy="3939540"/>
          </a:xfrm>
          <a:prstGeom prst="rect">
            <a:avLst/>
          </a:prstGeom>
          <a:ln w="7620">
            <a:solidFill>
              <a:srgbClr val="D4AF37">
                <a:alpha val="22000"/>
              </a:srgbClr>
            </a:solidFill>
            <a:prstDash val="solid"/>
          </a:ln>
        </p:spPr>
      </p:sp>
      <p:sp>
        <p:nvSpPr>
          <p:cNvPr id="9" name="Shape 6"/>
          <p:cNvSpPr/>
          <p:nvPr/>
        </p:nvSpPr>
        <p:spPr>
          <a:xfrm>
            <a:off x="1207770" y="3655695"/>
            <a:ext cx="4721781" cy="777240"/>
          </a:xfrm>
          <a:prstGeom prst="rect">
            <a:avLst/>
          </a:prstGeom>
          <a:solidFill>
            <a:srgbClr val="D4AF37">
              <a:alpha val="12000"/>
            </a:srgbClr>
          </a:solidFill>
          <a:ln w="7620">
            <a:solidFill>
              <a:srgbClr val="D4AF37">
                <a:alpha val="30000"/>
              </a:srgbClr>
            </a:solidFill>
            <a:prstDash val="dash"/>
          </a:ln>
        </p:spPr>
      </p:sp>
      <p:sp>
        <p:nvSpPr>
          <p:cNvPr id="10" name="Text 7"/>
          <p:cNvSpPr/>
          <p:nvPr/>
        </p:nvSpPr>
        <p:spPr>
          <a:xfrm>
            <a:off x="1144563" y="3663315"/>
            <a:ext cx="4848194" cy="800100"/>
          </a:xfrm>
          <a:prstGeom prst="rect">
            <a:avLst/>
          </a:prstGeom>
          <a:noFill/>
          <a:ln/>
        </p:spPr>
        <p:txBody>
          <a:bodyPr wrap="square" lIns="25400" tIns="25400" rIns="25400" bIns="25400" rtlCol="0" anchor="ctr">
            <a:normAutofit/>
          </a:bodyPr>
          <a:lstStyle/>
          <a:p>
            <a:pPr algn="ctr" indent="0" marL="0">
              <a:buNone/>
            </a:pPr>
            <a:r>
              <a:rPr lang="en-US" sz="825" spc="132" kern="0" dirty="0">
                <a:solidFill>
                  <a:srgbClr val="8B5E1A"/>
                </a:solidFill>
                <a:latin typeface="Courier New" pitchFamily="34" charset="0"/>
                <a:ea typeface="Courier New" pitchFamily="34" charset="-122"/>
                <a:cs typeface="Courier New" pitchFamily="34" charset="-120"/>
              </a:rPr>
              <a:t>[ LOGO CLIENTE 01 ]</a:t>
            </a:r>
            <a:endParaRPr lang="en-US" sz="825" dirty="0"/>
          </a:p>
        </p:txBody>
      </p:sp>
      <p:sp>
        <p:nvSpPr>
          <p:cNvPr id="11" name="Text 8"/>
          <p:cNvSpPr/>
          <p:nvPr/>
        </p:nvSpPr>
        <p:spPr>
          <a:xfrm>
            <a:off x="1207770" y="4585335"/>
            <a:ext cx="4863434"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SERVICIOS PROFESIONALES</a:t>
            </a:r>
            <a:endParaRPr lang="en-US" sz="825" dirty="0"/>
          </a:p>
        </p:txBody>
      </p:sp>
      <p:sp>
        <p:nvSpPr>
          <p:cNvPr id="12" name="Text 9"/>
          <p:cNvSpPr/>
          <p:nvPr/>
        </p:nvSpPr>
        <p:spPr>
          <a:xfrm>
            <a:off x="1207770" y="4859655"/>
            <a:ext cx="4863434" cy="320040"/>
          </a:xfrm>
          <a:prstGeom prst="rect">
            <a:avLst/>
          </a:prstGeom>
          <a:noFill/>
          <a:ln/>
        </p:spPr>
        <p:txBody>
          <a:bodyPr wrap="square" lIns="25400" tIns="25400" rIns="25400" bIns="25400" rtlCol="0" anchor="t">
            <a:normAutofit/>
          </a:bodyPr>
          <a:lstStyle/>
          <a:p>
            <a:pPr algn="l" indent="0" marL="0">
              <a:buNone/>
            </a:pPr>
            <a:r>
              <a:rPr lang="en-US" sz="1650" dirty="0">
                <a:solidFill>
                  <a:srgbClr val="F4D773"/>
                </a:solidFill>
                <a:latin typeface="Cinzel" pitchFamily="34" charset="0"/>
                <a:ea typeface="Cinzel" pitchFamily="34" charset="-122"/>
                <a:cs typeface="Cinzel" pitchFamily="34" charset="-120"/>
              </a:rPr>
              <a:t>[Cliente Ejemplo 01]</a:t>
            </a:r>
            <a:endParaRPr lang="en-US" sz="1650" dirty="0"/>
          </a:p>
        </p:txBody>
      </p:sp>
      <p:sp>
        <p:nvSpPr>
          <p:cNvPr id="13" name="Text 10"/>
          <p:cNvSpPr/>
          <p:nvPr/>
        </p:nvSpPr>
        <p:spPr>
          <a:xfrm>
            <a:off x="1207770" y="6118860"/>
            <a:ext cx="4863434" cy="418148"/>
          </a:xfrm>
          <a:prstGeom prst="rect">
            <a:avLst/>
          </a:prstGeom>
          <a:noFill/>
          <a:ln/>
        </p:spPr>
        <p:txBody>
          <a:bodyPr wrap="square" lIns="25400" tIns="25400" rIns="25400" bIns="25400" rtlCol="0" anchor="t">
            <a:normAutofit/>
          </a:bodyPr>
          <a:lstStyle/>
          <a:p>
            <a:pPr algn="l" indent="0" marL="0">
              <a:lnSpc>
                <a:spcPct val="105000"/>
              </a:lnSpc>
              <a:buNone/>
            </a:pPr>
            <a:r>
              <a:rPr lang="en-US" sz="2850" b="1" dirty="0">
                <a:solidFill>
                  <a:srgbClr val="F4D773"/>
                </a:solidFill>
                <a:latin typeface="Cinzel" pitchFamily="34" charset="0"/>
                <a:ea typeface="Cinzel" pitchFamily="34" charset="-122"/>
                <a:cs typeface="Cinzel" pitchFamily="34" charset="-120"/>
              </a:rPr>
              <a:t>[ −18% ]</a:t>
            </a:r>
            <a:endParaRPr lang="en-US" sz="2850" dirty="0"/>
          </a:p>
        </p:txBody>
      </p:sp>
      <p:sp>
        <p:nvSpPr>
          <p:cNvPr id="14" name="Text 11"/>
          <p:cNvSpPr/>
          <p:nvPr/>
        </p:nvSpPr>
        <p:spPr>
          <a:xfrm>
            <a:off x="1207770" y="6708457"/>
            <a:ext cx="4863434"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CB29A"/>
                </a:solidFill>
                <a:latin typeface="Inter" pitchFamily="34" charset="0"/>
                <a:ea typeface="Inter" pitchFamily="34" charset="-122"/>
                <a:cs typeface="Inter" pitchFamily="34" charset="-120"/>
              </a:rPr>
              <a:t>Reducción en carga fiscal efectiva durante el primer año bajo iguala HUYGHU.</a:t>
            </a:r>
            <a:endParaRPr lang="en-US" sz="975" dirty="0"/>
          </a:p>
        </p:txBody>
      </p:sp>
      <p:sp>
        <p:nvSpPr>
          <p:cNvPr id="15" name="Shape 12"/>
          <p:cNvSpPr/>
          <p:nvPr/>
        </p:nvSpPr>
        <p:spPr>
          <a:xfrm>
            <a:off x="6489621" y="3305175"/>
            <a:ext cx="5308640" cy="3939540"/>
          </a:xfrm>
          <a:prstGeom prst="rect">
            <a:avLst/>
          </a:prstGeom>
          <a:ln w="7620">
            <a:solidFill>
              <a:srgbClr val="D4AF37">
                <a:alpha val="22000"/>
              </a:srgbClr>
            </a:solidFill>
            <a:prstDash val="solid"/>
          </a:ln>
        </p:spPr>
      </p:sp>
      <p:sp>
        <p:nvSpPr>
          <p:cNvPr id="16" name="Shape 13"/>
          <p:cNvSpPr/>
          <p:nvPr/>
        </p:nvSpPr>
        <p:spPr>
          <a:xfrm>
            <a:off x="6782991" y="3655695"/>
            <a:ext cx="4721900" cy="777240"/>
          </a:xfrm>
          <a:prstGeom prst="rect">
            <a:avLst/>
          </a:prstGeom>
          <a:solidFill>
            <a:srgbClr val="D4AF37">
              <a:alpha val="12000"/>
            </a:srgbClr>
          </a:solidFill>
          <a:ln w="7620">
            <a:solidFill>
              <a:srgbClr val="D4AF37">
                <a:alpha val="30000"/>
              </a:srgbClr>
            </a:solidFill>
            <a:prstDash val="dash"/>
          </a:ln>
        </p:spPr>
      </p:sp>
      <p:sp>
        <p:nvSpPr>
          <p:cNvPr id="17" name="Text 14"/>
          <p:cNvSpPr/>
          <p:nvPr/>
        </p:nvSpPr>
        <p:spPr>
          <a:xfrm>
            <a:off x="6719782" y="3663315"/>
            <a:ext cx="4848317" cy="800100"/>
          </a:xfrm>
          <a:prstGeom prst="rect">
            <a:avLst/>
          </a:prstGeom>
          <a:noFill/>
          <a:ln/>
        </p:spPr>
        <p:txBody>
          <a:bodyPr wrap="square" lIns="25400" tIns="25400" rIns="25400" bIns="25400" rtlCol="0" anchor="ctr">
            <a:normAutofit/>
          </a:bodyPr>
          <a:lstStyle/>
          <a:p>
            <a:pPr algn="ctr" indent="0" marL="0">
              <a:buNone/>
            </a:pPr>
            <a:r>
              <a:rPr lang="en-US" sz="825" spc="132" kern="0" dirty="0">
                <a:solidFill>
                  <a:srgbClr val="8B5E1A"/>
                </a:solidFill>
                <a:latin typeface="Courier New" pitchFamily="34" charset="0"/>
                <a:ea typeface="Courier New" pitchFamily="34" charset="-122"/>
                <a:cs typeface="Courier New" pitchFamily="34" charset="-120"/>
              </a:rPr>
              <a:t>[ LOGO CLIENTE 02 ]</a:t>
            </a:r>
            <a:endParaRPr lang="en-US" sz="825" dirty="0"/>
          </a:p>
        </p:txBody>
      </p:sp>
      <p:sp>
        <p:nvSpPr>
          <p:cNvPr id="18" name="Text 15"/>
          <p:cNvSpPr/>
          <p:nvPr/>
        </p:nvSpPr>
        <p:spPr>
          <a:xfrm>
            <a:off x="6782991" y="4585335"/>
            <a:ext cx="4863557"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GRUPO COMERCIAL · RETAIL</a:t>
            </a:r>
            <a:endParaRPr lang="en-US" sz="825" dirty="0"/>
          </a:p>
        </p:txBody>
      </p:sp>
      <p:sp>
        <p:nvSpPr>
          <p:cNvPr id="19" name="Text 16"/>
          <p:cNvSpPr/>
          <p:nvPr/>
        </p:nvSpPr>
        <p:spPr>
          <a:xfrm>
            <a:off x="6782991" y="4859655"/>
            <a:ext cx="4863557" cy="320040"/>
          </a:xfrm>
          <a:prstGeom prst="rect">
            <a:avLst/>
          </a:prstGeom>
          <a:noFill/>
          <a:ln/>
        </p:spPr>
        <p:txBody>
          <a:bodyPr wrap="square" lIns="25400" tIns="25400" rIns="25400" bIns="25400" rtlCol="0" anchor="t">
            <a:normAutofit/>
          </a:bodyPr>
          <a:lstStyle/>
          <a:p>
            <a:pPr algn="l" indent="0" marL="0">
              <a:buNone/>
            </a:pPr>
            <a:r>
              <a:rPr lang="en-US" sz="1650" dirty="0">
                <a:solidFill>
                  <a:srgbClr val="F4D773"/>
                </a:solidFill>
                <a:latin typeface="Cinzel" pitchFamily="34" charset="0"/>
                <a:ea typeface="Cinzel" pitchFamily="34" charset="-122"/>
                <a:cs typeface="Cinzel" pitchFamily="34" charset="-120"/>
              </a:rPr>
              <a:t>[Cliente Ejemplo 02]</a:t>
            </a:r>
            <a:endParaRPr lang="en-US" sz="1650" dirty="0"/>
          </a:p>
        </p:txBody>
      </p:sp>
      <p:sp>
        <p:nvSpPr>
          <p:cNvPr id="20" name="Text 17"/>
          <p:cNvSpPr/>
          <p:nvPr/>
        </p:nvSpPr>
        <p:spPr>
          <a:xfrm>
            <a:off x="6782991" y="6118860"/>
            <a:ext cx="4863557" cy="418148"/>
          </a:xfrm>
          <a:prstGeom prst="rect">
            <a:avLst/>
          </a:prstGeom>
          <a:noFill/>
          <a:ln/>
        </p:spPr>
        <p:txBody>
          <a:bodyPr wrap="square" lIns="25400" tIns="25400" rIns="25400" bIns="25400" rtlCol="0" anchor="t">
            <a:normAutofit/>
          </a:bodyPr>
          <a:lstStyle/>
          <a:p>
            <a:pPr algn="l" indent="0" marL="0">
              <a:lnSpc>
                <a:spcPct val="105000"/>
              </a:lnSpc>
              <a:buNone/>
            </a:pPr>
            <a:r>
              <a:rPr lang="en-US" sz="2850" b="1" dirty="0">
                <a:solidFill>
                  <a:srgbClr val="F4D773"/>
                </a:solidFill>
                <a:latin typeface="Cinzel" pitchFamily="34" charset="0"/>
                <a:ea typeface="Cinzel" pitchFamily="34" charset="-122"/>
                <a:cs typeface="Cinzel" pitchFamily="34" charset="-120"/>
              </a:rPr>
              <a:t>[ 5 → 0 ]</a:t>
            </a:r>
            <a:endParaRPr lang="en-US" sz="2850" dirty="0"/>
          </a:p>
        </p:txBody>
      </p:sp>
      <p:sp>
        <p:nvSpPr>
          <p:cNvPr id="21" name="Text 18"/>
          <p:cNvSpPr/>
          <p:nvPr/>
        </p:nvSpPr>
        <p:spPr>
          <a:xfrm>
            <a:off x="6782991" y="6708457"/>
            <a:ext cx="4863557"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CB29A"/>
                </a:solidFill>
                <a:latin typeface="Inter" pitchFamily="34" charset="0"/>
                <a:ea typeface="Inter" pitchFamily="34" charset="-122"/>
                <a:cs typeface="Inter" pitchFamily="34" charset="-120"/>
              </a:rPr>
              <a:t>Rectificativas anuales: pasó de 5 declaraciones rectificadas a 0 en el ejercicio.</a:t>
            </a:r>
            <a:endParaRPr lang="en-US" sz="975" dirty="0"/>
          </a:p>
        </p:txBody>
      </p:sp>
      <p:sp>
        <p:nvSpPr>
          <p:cNvPr id="22" name="Shape 19"/>
          <p:cNvSpPr/>
          <p:nvPr/>
        </p:nvSpPr>
        <p:spPr>
          <a:xfrm>
            <a:off x="12064960" y="3305175"/>
            <a:ext cx="5308640" cy="3939540"/>
          </a:xfrm>
          <a:prstGeom prst="rect">
            <a:avLst/>
          </a:prstGeom>
          <a:ln w="7620">
            <a:solidFill>
              <a:srgbClr val="D4AF37">
                <a:alpha val="22000"/>
              </a:srgbClr>
            </a:solidFill>
            <a:prstDash val="solid"/>
          </a:ln>
        </p:spPr>
      </p:sp>
      <p:sp>
        <p:nvSpPr>
          <p:cNvPr id="23" name="Shape 20"/>
          <p:cNvSpPr/>
          <p:nvPr/>
        </p:nvSpPr>
        <p:spPr>
          <a:xfrm>
            <a:off x="12358331" y="3655695"/>
            <a:ext cx="4721900" cy="777240"/>
          </a:xfrm>
          <a:prstGeom prst="rect">
            <a:avLst/>
          </a:prstGeom>
          <a:solidFill>
            <a:srgbClr val="D4AF37">
              <a:alpha val="12000"/>
            </a:srgbClr>
          </a:solidFill>
          <a:ln w="7620">
            <a:solidFill>
              <a:srgbClr val="D4AF37">
                <a:alpha val="30000"/>
              </a:srgbClr>
            </a:solidFill>
            <a:prstDash val="dash"/>
          </a:ln>
        </p:spPr>
      </p:sp>
      <p:sp>
        <p:nvSpPr>
          <p:cNvPr id="24" name="Text 21"/>
          <p:cNvSpPr/>
          <p:nvPr/>
        </p:nvSpPr>
        <p:spPr>
          <a:xfrm>
            <a:off x="12295122" y="3663315"/>
            <a:ext cx="4848317" cy="800100"/>
          </a:xfrm>
          <a:prstGeom prst="rect">
            <a:avLst/>
          </a:prstGeom>
          <a:noFill/>
          <a:ln/>
        </p:spPr>
        <p:txBody>
          <a:bodyPr wrap="square" lIns="25400" tIns="25400" rIns="25400" bIns="25400" rtlCol="0" anchor="ctr">
            <a:normAutofit/>
          </a:bodyPr>
          <a:lstStyle/>
          <a:p>
            <a:pPr algn="ctr" indent="0" marL="0">
              <a:buNone/>
            </a:pPr>
            <a:r>
              <a:rPr lang="en-US" sz="825" spc="132" kern="0" dirty="0">
                <a:solidFill>
                  <a:srgbClr val="8B5E1A"/>
                </a:solidFill>
                <a:latin typeface="Courier New" pitchFamily="34" charset="0"/>
                <a:ea typeface="Courier New" pitchFamily="34" charset="-122"/>
                <a:cs typeface="Courier New" pitchFamily="34" charset="-120"/>
              </a:rPr>
              <a:t>[ LOGO CLIENTE 03 ]</a:t>
            </a:r>
            <a:endParaRPr lang="en-US" sz="825" dirty="0"/>
          </a:p>
        </p:txBody>
      </p:sp>
      <p:sp>
        <p:nvSpPr>
          <p:cNvPr id="25" name="Text 22"/>
          <p:cNvSpPr/>
          <p:nvPr/>
        </p:nvSpPr>
        <p:spPr>
          <a:xfrm>
            <a:off x="12358331" y="4585335"/>
            <a:ext cx="4863557" cy="16002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B5E1A"/>
                </a:solidFill>
                <a:latin typeface="Montserrat" pitchFamily="34" charset="0"/>
                <a:ea typeface="Montserrat" pitchFamily="34" charset="-122"/>
                <a:cs typeface="Montserrat" pitchFamily="34" charset="-120"/>
              </a:rPr>
              <a:t>EMPRESA FAMILIAR · MANUFACTURA</a:t>
            </a:r>
            <a:endParaRPr lang="en-US" sz="825" dirty="0"/>
          </a:p>
        </p:txBody>
      </p:sp>
      <p:sp>
        <p:nvSpPr>
          <p:cNvPr id="26" name="Text 23"/>
          <p:cNvSpPr/>
          <p:nvPr/>
        </p:nvSpPr>
        <p:spPr>
          <a:xfrm>
            <a:off x="12358331" y="4859655"/>
            <a:ext cx="4863557" cy="320040"/>
          </a:xfrm>
          <a:prstGeom prst="rect">
            <a:avLst/>
          </a:prstGeom>
          <a:noFill/>
          <a:ln/>
        </p:spPr>
        <p:txBody>
          <a:bodyPr wrap="square" lIns="25400" tIns="25400" rIns="25400" bIns="25400" rtlCol="0" anchor="t">
            <a:normAutofit/>
          </a:bodyPr>
          <a:lstStyle/>
          <a:p>
            <a:pPr algn="l" indent="0" marL="0">
              <a:buNone/>
            </a:pPr>
            <a:r>
              <a:rPr lang="en-US" sz="1650" dirty="0">
                <a:solidFill>
                  <a:srgbClr val="F4D773"/>
                </a:solidFill>
                <a:latin typeface="Cinzel" pitchFamily="34" charset="0"/>
                <a:ea typeface="Cinzel" pitchFamily="34" charset="-122"/>
                <a:cs typeface="Cinzel" pitchFamily="34" charset="-120"/>
              </a:rPr>
              <a:t>[Cliente Ejemplo 03]</a:t>
            </a:r>
            <a:endParaRPr lang="en-US" sz="1650" dirty="0"/>
          </a:p>
        </p:txBody>
      </p:sp>
      <p:sp>
        <p:nvSpPr>
          <p:cNvPr id="27" name="Text 24"/>
          <p:cNvSpPr/>
          <p:nvPr/>
        </p:nvSpPr>
        <p:spPr>
          <a:xfrm>
            <a:off x="12358331" y="6118860"/>
            <a:ext cx="4863557" cy="418148"/>
          </a:xfrm>
          <a:prstGeom prst="rect">
            <a:avLst/>
          </a:prstGeom>
          <a:noFill/>
          <a:ln/>
        </p:spPr>
        <p:txBody>
          <a:bodyPr wrap="square" lIns="25400" tIns="25400" rIns="25400" bIns="25400" rtlCol="0" anchor="t">
            <a:normAutofit/>
          </a:bodyPr>
          <a:lstStyle/>
          <a:p>
            <a:pPr algn="l" indent="0" marL="0">
              <a:lnSpc>
                <a:spcPct val="105000"/>
              </a:lnSpc>
              <a:buNone/>
            </a:pPr>
            <a:r>
              <a:rPr lang="en-US" sz="2850" b="1" dirty="0">
                <a:solidFill>
                  <a:srgbClr val="F4D773"/>
                </a:solidFill>
                <a:latin typeface="Cinzel" pitchFamily="34" charset="0"/>
                <a:ea typeface="Cinzel" pitchFamily="34" charset="-122"/>
                <a:cs typeface="Cinzel" pitchFamily="34" charset="-120"/>
              </a:rPr>
              <a:t>[ A+ ]</a:t>
            </a:r>
            <a:endParaRPr lang="en-US" sz="2850" dirty="0"/>
          </a:p>
        </p:txBody>
      </p:sp>
      <p:sp>
        <p:nvSpPr>
          <p:cNvPr id="28" name="Text 25"/>
          <p:cNvSpPr/>
          <p:nvPr/>
        </p:nvSpPr>
        <p:spPr>
          <a:xfrm>
            <a:off x="12358331" y="6708457"/>
            <a:ext cx="4863557" cy="223838"/>
          </a:xfrm>
          <a:prstGeom prst="rect">
            <a:avLst/>
          </a:prstGeom>
          <a:noFill/>
          <a:ln/>
        </p:spPr>
        <p:txBody>
          <a:bodyPr wrap="square" lIns="25400" tIns="25400" rIns="25400" bIns="25400" rtlCol="0" anchor="t">
            <a:normAutofit/>
          </a:bodyPr>
          <a:lstStyle/>
          <a:p>
            <a:pPr algn="l" indent="0" marL="0">
              <a:lnSpc>
                <a:spcPct val="150000"/>
              </a:lnSpc>
              <a:buNone/>
            </a:pPr>
            <a:r>
              <a:rPr lang="en-US" sz="975" dirty="0">
                <a:solidFill>
                  <a:srgbClr val="BCB29A"/>
                </a:solidFill>
                <a:latin typeface="Inter" pitchFamily="34" charset="0"/>
                <a:ea typeface="Inter" pitchFamily="34" charset="-122"/>
                <a:cs typeface="Inter" pitchFamily="34" charset="-120"/>
              </a:rPr>
              <a:t>Primera auditoría externa limpia tras restructuración contable de 6 meses.</a:t>
            </a:r>
            <a:endParaRPr lang="en-US" sz="975" dirty="0"/>
          </a:p>
        </p:txBody>
      </p:sp>
      <p:sp>
        <p:nvSpPr>
          <p:cNvPr id="29" name="Text 26"/>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30" name="Text 27"/>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10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10 · ESTRUCTURA POR CUENTA</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Equipo.</a:t>
            </a:r>
            <a:endParaRPr lang="en-US" sz="6300" dirty="0"/>
          </a:p>
        </p:txBody>
      </p:sp>
      <p:sp>
        <p:nvSpPr>
          <p:cNvPr id="8" name="Shape 5"/>
          <p:cNvSpPr/>
          <p:nvPr/>
        </p:nvSpPr>
        <p:spPr>
          <a:xfrm>
            <a:off x="7821930" y="3305175"/>
            <a:ext cx="2644140" cy="739140"/>
          </a:xfrm>
          <a:prstGeom prst="rect">
            <a:avLst/>
          </a:prstGeom>
          <a:solidFill>
            <a:srgbClr val="D4AF37"/>
          </a:solidFill>
          <a:ln w="7620">
            <a:solidFill>
              <a:srgbClr val="F4D773"/>
            </a:solidFill>
            <a:prstDash val="solid"/>
          </a:ln>
        </p:spPr>
      </p:sp>
      <p:sp>
        <p:nvSpPr>
          <p:cNvPr id="9" name="Text 6"/>
          <p:cNvSpPr/>
          <p:nvPr/>
        </p:nvSpPr>
        <p:spPr>
          <a:xfrm>
            <a:off x="8058150" y="348424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0A0A0A"/>
                </a:solidFill>
                <a:latin typeface="Cinzel" pitchFamily="34" charset="0"/>
                <a:ea typeface="Cinzel" pitchFamily="34" charset="-122"/>
                <a:cs typeface="Cinzel" pitchFamily="34" charset="-120"/>
              </a:rPr>
              <a:t>Socio Director</a:t>
            </a:r>
            <a:endParaRPr lang="en-US" sz="1350" dirty="0"/>
          </a:p>
        </p:txBody>
      </p:sp>
      <p:sp>
        <p:nvSpPr>
          <p:cNvPr id="10" name="Text 7"/>
          <p:cNvSpPr/>
          <p:nvPr/>
        </p:nvSpPr>
        <p:spPr>
          <a:xfrm>
            <a:off x="8058150" y="375094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3B2812"/>
                </a:solidFill>
                <a:latin typeface="Montserrat" pitchFamily="34" charset="0"/>
                <a:ea typeface="Montserrat" pitchFamily="34" charset="-122"/>
                <a:cs typeface="Montserrat" pitchFamily="34" charset="-120"/>
              </a:rPr>
              <a:t>CPA · ICPARD</a:t>
            </a:r>
            <a:endParaRPr lang="en-US" sz="750" dirty="0"/>
          </a:p>
        </p:txBody>
      </p:sp>
      <p:sp>
        <p:nvSpPr>
          <p:cNvPr id="11" name="Shape 8"/>
          <p:cNvSpPr/>
          <p:nvPr/>
        </p:nvSpPr>
        <p:spPr>
          <a:xfrm>
            <a:off x="9139238" y="4387215"/>
            <a:ext cx="9525" cy="304800"/>
          </a:xfrm>
          <a:prstGeom prst="rect">
            <a:avLst/>
          </a:prstGeom>
          <a:solidFill>
            <a:srgbClr val="8B5E1A"/>
          </a:solidFill>
          <a:ln/>
        </p:spPr>
      </p:sp>
      <p:sp>
        <p:nvSpPr>
          <p:cNvPr id="12" name="Shape 9"/>
          <p:cNvSpPr/>
          <p:nvPr/>
        </p:nvSpPr>
        <p:spPr>
          <a:xfrm>
            <a:off x="7821930" y="5034915"/>
            <a:ext cx="2644140" cy="739140"/>
          </a:xfrm>
          <a:prstGeom prst="rect">
            <a:avLst/>
          </a:prstGeom>
          <a:solidFill>
            <a:srgbClr val="D4AF37">
              <a:alpha val="4000"/>
            </a:srgbClr>
          </a:solidFill>
          <a:ln w="7620">
            <a:solidFill>
              <a:srgbClr val="D4AF37"/>
            </a:solidFill>
            <a:prstDash val="solid"/>
          </a:ln>
        </p:spPr>
      </p:sp>
      <p:sp>
        <p:nvSpPr>
          <p:cNvPr id="13" name="Text 10"/>
          <p:cNvSpPr/>
          <p:nvPr/>
        </p:nvSpPr>
        <p:spPr>
          <a:xfrm>
            <a:off x="8058150" y="521398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F4D773"/>
                </a:solidFill>
                <a:latin typeface="Cinzel" pitchFamily="34" charset="0"/>
                <a:ea typeface="Cinzel" pitchFamily="34" charset="-122"/>
                <a:cs typeface="Cinzel" pitchFamily="34" charset="-120"/>
              </a:rPr>
              <a:t>Gerente de Cuenta</a:t>
            </a:r>
            <a:endParaRPr lang="en-US" sz="1350" dirty="0"/>
          </a:p>
        </p:txBody>
      </p:sp>
      <p:sp>
        <p:nvSpPr>
          <p:cNvPr id="14" name="Text 11"/>
          <p:cNvSpPr/>
          <p:nvPr/>
        </p:nvSpPr>
        <p:spPr>
          <a:xfrm>
            <a:off x="8058150" y="548068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Montserrat" pitchFamily="34" charset="0"/>
                <a:ea typeface="Montserrat" pitchFamily="34" charset="-122"/>
                <a:cs typeface="Montserrat" pitchFamily="34" charset="-120"/>
              </a:rPr>
              <a:t>RESPONSABLE PORTAFOLIO</a:t>
            </a:r>
            <a:endParaRPr lang="en-US" sz="750" dirty="0"/>
          </a:p>
        </p:txBody>
      </p:sp>
      <p:sp>
        <p:nvSpPr>
          <p:cNvPr id="15" name="Shape 12"/>
          <p:cNvSpPr/>
          <p:nvPr/>
        </p:nvSpPr>
        <p:spPr>
          <a:xfrm>
            <a:off x="9139238" y="6116955"/>
            <a:ext cx="9525" cy="304800"/>
          </a:xfrm>
          <a:prstGeom prst="rect">
            <a:avLst/>
          </a:prstGeom>
          <a:solidFill>
            <a:srgbClr val="8B5E1A"/>
          </a:solidFill>
          <a:ln/>
        </p:spPr>
      </p:sp>
      <p:sp>
        <p:nvSpPr>
          <p:cNvPr id="16" name="Shape 13"/>
          <p:cNvSpPr/>
          <p:nvPr/>
        </p:nvSpPr>
        <p:spPr>
          <a:xfrm>
            <a:off x="3598545" y="6764655"/>
            <a:ext cx="2644140" cy="739140"/>
          </a:xfrm>
          <a:prstGeom prst="rect">
            <a:avLst/>
          </a:prstGeom>
          <a:solidFill>
            <a:srgbClr val="D4AF37">
              <a:alpha val="4000"/>
            </a:srgbClr>
          </a:solidFill>
          <a:ln w="7620">
            <a:solidFill>
              <a:srgbClr val="D4AF37"/>
            </a:solidFill>
            <a:prstDash val="solid"/>
          </a:ln>
        </p:spPr>
      </p:sp>
      <p:sp>
        <p:nvSpPr>
          <p:cNvPr id="17" name="Text 14"/>
          <p:cNvSpPr/>
          <p:nvPr/>
        </p:nvSpPr>
        <p:spPr>
          <a:xfrm>
            <a:off x="3834765" y="694372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F4D773"/>
                </a:solidFill>
                <a:latin typeface="Cinzel" pitchFamily="34" charset="0"/>
                <a:ea typeface="Cinzel" pitchFamily="34" charset="-122"/>
                <a:cs typeface="Cinzel" pitchFamily="34" charset="-120"/>
              </a:rPr>
              <a:t>Contador Senior 1</a:t>
            </a:r>
            <a:endParaRPr lang="en-US" sz="1350" dirty="0"/>
          </a:p>
        </p:txBody>
      </p:sp>
      <p:sp>
        <p:nvSpPr>
          <p:cNvPr id="18" name="Text 15"/>
          <p:cNvSpPr/>
          <p:nvPr/>
        </p:nvSpPr>
        <p:spPr>
          <a:xfrm>
            <a:off x="3834765" y="721042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Montserrat" pitchFamily="34" charset="0"/>
                <a:ea typeface="Montserrat" pitchFamily="34" charset="-122"/>
                <a:cs typeface="Montserrat" pitchFamily="34" charset="-120"/>
              </a:rPr>
              <a:t>CUENTAS CORPORATIVAS</a:t>
            </a:r>
            <a:endParaRPr lang="en-US" sz="750" dirty="0"/>
          </a:p>
        </p:txBody>
      </p:sp>
      <p:sp>
        <p:nvSpPr>
          <p:cNvPr id="19" name="Shape 16"/>
          <p:cNvSpPr/>
          <p:nvPr/>
        </p:nvSpPr>
        <p:spPr>
          <a:xfrm>
            <a:off x="6414135" y="6764655"/>
            <a:ext cx="2644140" cy="739140"/>
          </a:xfrm>
          <a:prstGeom prst="rect">
            <a:avLst/>
          </a:prstGeom>
          <a:solidFill>
            <a:srgbClr val="D4AF37">
              <a:alpha val="4000"/>
            </a:srgbClr>
          </a:solidFill>
          <a:ln w="7620">
            <a:solidFill>
              <a:srgbClr val="D4AF37"/>
            </a:solidFill>
            <a:prstDash val="solid"/>
          </a:ln>
        </p:spPr>
      </p:sp>
      <p:sp>
        <p:nvSpPr>
          <p:cNvPr id="20" name="Text 17"/>
          <p:cNvSpPr/>
          <p:nvPr/>
        </p:nvSpPr>
        <p:spPr>
          <a:xfrm>
            <a:off x="6650355" y="694372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F4D773"/>
                </a:solidFill>
                <a:latin typeface="Cinzel" pitchFamily="34" charset="0"/>
                <a:ea typeface="Cinzel" pitchFamily="34" charset="-122"/>
                <a:cs typeface="Cinzel" pitchFamily="34" charset="-120"/>
              </a:rPr>
              <a:t>Contador Senior 2</a:t>
            </a:r>
            <a:endParaRPr lang="en-US" sz="1350" dirty="0"/>
          </a:p>
        </p:txBody>
      </p:sp>
      <p:sp>
        <p:nvSpPr>
          <p:cNvPr id="21" name="Text 18"/>
          <p:cNvSpPr/>
          <p:nvPr/>
        </p:nvSpPr>
        <p:spPr>
          <a:xfrm>
            <a:off x="6650355" y="721042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Montserrat" pitchFamily="34" charset="0"/>
                <a:ea typeface="Montserrat" pitchFamily="34" charset="-122"/>
                <a:cs typeface="Montserrat" pitchFamily="34" charset="-120"/>
              </a:rPr>
              <a:t>CUENTAS CORPORATIVAS</a:t>
            </a:r>
            <a:endParaRPr lang="en-US" sz="750" dirty="0"/>
          </a:p>
        </p:txBody>
      </p:sp>
      <p:sp>
        <p:nvSpPr>
          <p:cNvPr id="22" name="Shape 19"/>
          <p:cNvSpPr/>
          <p:nvPr/>
        </p:nvSpPr>
        <p:spPr>
          <a:xfrm>
            <a:off x="9229725" y="6764655"/>
            <a:ext cx="2644140" cy="739140"/>
          </a:xfrm>
          <a:prstGeom prst="rect">
            <a:avLst/>
          </a:prstGeom>
          <a:solidFill>
            <a:srgbClr val="D4AF37">
              <a:alpha val="4000"/>
            </a:srgbClr>
          </a:solidFill>
          <a:ln w="7620">
            <a:solidFill>
              <a:srgbClr val="D4AF37"/>
            </a:solidFill>
            <a:prstDash val="solid"/>
          </a:ln>
        </p:spPr>
      </p:sp>
      <p:sp>
        <p:nvSpPr>
          <p:cNvPr id="23" name="Text 20"/>
          <p:cNvSpPr/>
          <p:nvPr/>
        </p:nvSpPr>
        <p:spPr>
          <a:xfrm>
            <a:off x="9465945" y="694372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F4D773"/>
                </a:solidFill>
                <a:latin typeface="Cinzel" pitchFamily="34" charset="0"/>
                <a:ea typeface="Cinzel" pitchFamily="34" charset="-122"/>
                <a:cs typeface="Cinzel" pitchFamily="34" charset="-120"/>
              </a:rPr>
              <a:t>Analista Fiscal</a:t>
            </a:r>
            <a:endParaRPr lang="en-US" sz="1350" dirty="0"/>
          </a:p>
        </p:txBody>
      </p:sp>
      <p:sp>
        <p:nvSpPr>
          <p:cNvPr id="24" name="Text 21"/>
          <p:cNvSpPr/>
          <p:nvPr/>
        </p:nvSpPr>
        <p:spPr>
          <a:xfrm>
            <a:off x="9465945" y="721042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Montserrat" pitchFamily="34" charset="0"/>
                <a:ea typeface="Montserrat" pitchFamily="34" charset="-122"/>
                <a:cs typeface="Montserrat" pitchFamily="34" charset="-120"/>
              </a:rPr>
              <a:t>ESPECIALISTA DGII</a:t>
            </a:r>
            <a:endParaRPr lang="en-US" sz="750" dirty="0"/>
          </a:p>
        </p:txBody>
      </p:sp>
      <p:sp>
        <p:nvSpPr>
          <p:cNvPr id="25" name="Shape 22"/>
          <p:cNvSpPr/>
          <p:nvPr/>
        </p:nvSpPr>
        <p:spPr>
          <a:xfrm>
            <a:off x="12045315" y="6764655"/>
            <a:ext cx="2644140" cy="739140"/>
          </a:xfrm>
          <a:prstGeom prst="rect">
            <a:avLst/>
          </a:prstGeom>
          <a:solidFill>
            <a:srgbClr val="D4AF37">
              <a:alpha val="4000"/>
            </a:srgbClr>
          </a:solidFill>
          <a:ln w="7620">
            <a:solidFill>
              <a:srgbClr val="D4AF37"/>
            </a:solidFill>
            <a:prstDash val="solid"/>
          </a:ln>
        </p:spPr>
      </p:sp>
      <p:sp>
        <p:nvSpPr>
          <p:cNvPr id="26" name="Text 23"/>
          <p:cNvSpPr/>
          <p:nvPr/>
        </p:nvSpPr>
        <p:spPr>
          <a:xfrm>
            <a:off x="12281535" y="6943725"/>
            <a:ext cx="2171700" cy="266700"/>
          </a:xfrm>
          <a:prstGeom prst="rect">
            <a:avLst/>
          </a:prstGeom>
          <a:noFill/>
          <a:ln/>
        </p:spPr>
        <p:txBody>
          <a:bodyPr wrap="square" lIns="25400" tIns="25400" rIns="25400" bIns="25400" rtlCol="0" anchor="t">
            <a:normAutofit/>
          </a:bodyPr>
          <a:lstStyle/>
          <a:p>
            <a:pPr algn="ctr" indent="0" marL="0">
              <a:buNone/>
            </a:pPr>
            <a:r>
              <a:rPr lang="en-US" sz="1350" spc="54" kern="0" dirty="0">
                <a:solidFill>
                  <a:srgbClr val="F4D773"/>
                </a:solidFill>
                <a:latin typeface="Cinzel" pitchFamily="34" charset="0"/>
                <a:ea typeface="Cinzel" pitchFamily="34" charset="-122"/>
                <a:cs typeface="Cinzel" pitchFamily="34" charset="-120"/>
              </a:rPr>
              <a:t>Asistente Contable</a:t>
            </a:r>
            <a:endParaRPr lang="en-US" sz="1350" dirty="0"/>
          </a:p>
        </p:txBody>
      </p:sp>
      <p:sp>
        <p:nvSpPr>
          <p:cNvPr id="27" name="Text 24"/>
          <p:cNvSpPr/>
          <p:nvPr/>
        </p:nvSpPr>
        <p:spPr>
          <a:xfrm>
            <a:off x="12281535" y="7210425"/>
            <a:ext cx="2171700" cy="15240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Montserrat" pitchFamily="34" charset="0"/>
                <a:ea typeface="Montserrat" pitchFamily="34" charset="-122"/>
                <a:cs typeface="Montserrat" pitchFamily="34" charset="-120"/>
              </a:rPr>
              <a:t>DATA ENTRY · SOPORTE</a:t>
            </a:r>
            <a:endParaRPr lang="en-US" sz="750" dirty="0"/>
          </a:p>
        </p:txBody>
      </p:sp>
      <p:sp>
        <p:nvSpPr>
          <p:cNvPr id="28" name="Text 25"/>
          <p:cNvSpPr/>
          <p:nvPr/>
        </p:nvSpPr>
        <p:spPr>
          <a:xfrm>
            <a:off x="667512" y="7960995"/>
            <a:ext cx="16952976" cy="198120"/>
          </a:xfrm>
          <a:prstGeom prst="rect">
            <a:avLst/>
          </a:prstGeom>
          <a:noFill/>
          <a:ln/>
        </p:spPr>
        <p:txBody>
          <a:bodyPr wrap="square" lIns="25400" tIns="25400" rIns="25400" bIns="25400" rtlCol="0" anchor="t">
            <a:normAutofit/>
          </a:bodyPr>
          <a:lstStyle/>
          <a:p>
            <a:pPr algn="ctr" indent="0" marL="0">
              <a:buNone/>
            </a:pPr>
            <a:r>
              <a:rPr lang="en-US" sz="1050" spc="42" kern="0" dirty="0">
                <a:solidFill>
                  <a:srgbClr val="9C9580"/>
                </a:solidFill>
                <a:latin typeface="Inter" pitchFamily="34" charset="0"/>
                <a:ea typeface="Inter" pitchFamily="34" charset="-122"/>
                <a:cs typeface="Inter" pitchFamily="34" charset="-120"/>
              </a:rPr>
              <a:t>25+ profesionales · ICPARD #[XXXX] · Miembros del Colegio de Contadores Públicos Autorizados (CCPSD)</a:t>
            </a:r>
            <a:endParaRPr lang="en-US" sz="1050" dirty="0"/>
          </a:p>
        </p:txBody>
      </p:sp>
      <p:sp>
        <p:nvSpPr>
          <p:cNvPr id="29" name="Text 26"/>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30" name="Text 27"/>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11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11 · STACK TECNOLÓGICO</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Tecnología.</a:t>
            </a:r>
            <a:endParaRPr lang="en-US" sz="6300" dirty="0"/>
          </a:p>
        </p:txBody>
      </p:sp>
      <p:sp>
        <p:nvSpPr>
          <p:cNvPr id="8" name="Text 5"/>
          <p:cNvSpPr/>
          <p:nvPr/>
        </p:nvSpPr>
        <p:spPr>
          <a:xfrm>
            <a:off x="914400" y="3095625"/>
            <a:ext cx="10791825"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Procesos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100% digitales </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 Cliente con acceso a portal de seguimiento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24/7</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a:t>
            </a:r>
            <a:endParaRPr lang="en-US" sz="1950" dirty="0"/>
          </a:p>
        </p:txBody>
      </p:sp>
      <p:sp>
        <p:nvSpPr>
          <p:cNvPr id="9" name="Shape 6"/>
          <p:cNvSpPr/>
          <p:nvPr/>
        </p:nvSpPr>
        <p:spPr>
          <a:xfrm>
            <a:off x="914400" y="4184333"/>
            <a:ext cx="3154680" cy="2491740"/>
          </a:xfrm>
          <a:prstGeom prst="rect">
            <a:avLst/>
          </a:prstGeom>
          <a:ln w="7620">
            <a:solidFill>
              <a:srgbClr val="D4AF37">
                <a:alpha val="22000"/>
              </a:srgbClr>
            </a:solidFill>
            <a:prstDash val="solid"/>
          </a:ln>
        </p:spPr>
      </p:sp>
      <p:sp>
        <p:nvSpPr>
          <p:cNvPr id="10" name="Text 7"/>
          <p:cNvSpPr/>
          <p:nvPr/>
        </p:nvSpPr>
        <p:spPr>
          <a:xfrm>
            <a:off x="1090765" y="4477703"/>
            <a:ext cx="2801950" cy="289560"/>
          </a:xfrm>
          <a:prstGeom prst="rect">
            <a:avLst/>
          </a:prstGeom>
          <a:noFill/>
          <a:ln/>
        </p:spPr>
        <p:txBody>
          <a:bodyPr wrap="square" lIns="25400" tIns="25400" rIns="25400" bIns="25400" rtlCol="0" anchor="t">
            <a:normAutofit/>
          </a:bodyPr>
          <a:lstStyle/>
          <a:p>
            <a:pPr algn="ctr" indent="0" marL="0">
              <a:buNone/>
            </a:pPr>
            <a:r>
              <a:rPr lang="en-US" sz="1500" b="1" spc="30" kern="0" dirty="0">
                <a:solidFill>
                  <a:srgbClr val="F4D773"/>
                </a:solidFill>
                <a:latin typeface="Cinzel" pitchFamily="34" charset="0"/>
                <a:ea typeface="Cinzel" pitchFamily="34" charset="-122"/>
                <a:cs typeface="Cinzel" pitchFamily="34" charset="-120"/>
              </a:rPr>
              <a:t>QuickBooks</a:t>
            </a:r>
            <a:endParaRPr lang="en-US" sz="1500" dirty="0"/>
          </a:p>
        </p:txBody>
      </p:sp>
      <p:sp>
        <p:nvSpPr>
          <p:cNvPr id="11" name="Text 8"/>
          <p:cNvSpPr/>
          <p:nvPr/>
        </p:nvSpPr>
        <p:spPr>
          <a:xfrm>
            <a:off x="1090765" y="4843463"/>
            <a:ext cx="2801950" cy="195263"/>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9C9580"/>
                </a:solidFill>
                <a:latin typeface="Inter" pitchFamily="34" charset="0"/>
                <a:ea typeface="Inter" pitchFamily="34" charset="-122"/>
                <a:cs typeface="Inter" pitchFamily="34" charset="-120"/>
              </a:rPr>
              <a:t>Contabilidad multi-moneda en la nube</a:t>
            </a:r>
            <a:endParaRPr lang="en-US" sz="825" dirty="0"/>
          </a:p>
        </p:txBody>
      </p:sp>
      <p:sp>
        <p:nvSpPr>
          <p:cNvPr id="12" name="Text 9"/>
          <p:cNvSpPr/>
          <p:nvPr/>
        </p:nvSpPr>
        <p:spPr>
          <a:xfrm>
            <a:off x="1090765" y="6276023"/>
            <a:ext cx="2801950" cy="14478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Courier New" pitchFamily="34" charset="0"/>
                <a:ea typeface="Courier New" pitchFamily="34" charset="-122"/>
                <a:cs typeface="Courier New" pitchFamily="34" charset="-120"/>
              </a:rPr>
              <a:t>ERP · CONTAB</a:t>
            </a:r>
            <a:endParaRPr lang="en-US" sz="750" dirty="0"/>
          </a:p>
        </p:txBody>
      </p:sp>
      <p:sp>
        <p:nvSpPr>
          <p:cNvPr id="13" name="Shape 10"/>
          <p:cNvSpPr/>
          <p:nvPr/>
        </p:nvSpPr>
        <p:spPr>
          <a:xfrm>
            <a:off x="4240530" y="4184333"/>
            <a:ext cx="3154680" cy="2491740"/>
          </a:xfrm>
          <a:prstGeom prst="rect">
            <a:avLst/>
          </a:prstGeom>
          <a:ln w="7620">
            <a:solidFill>
              <a:srgbClr val="D4AF37">
                <a:alpha val="22000"/>
              </a:srgbClr>
            </a:solidFill>
            <a:prstDash val="solid"/>
          </a:ln>
        </p:spPr>
      </p:sp>
      <p:sp>
        <p:nvSpPr>
          <p:cNvPr id="14" name="Text 11"/>
          <p:cNvSpPr/>
          <p:nvPr/>
        </p:nvSpPr>
        <p:spPr>
          <a:xfrm>
            <a:off x="4416895" y="4477703"/>
            <a:ext cx="2801950" cy="289560"/>
          </a:xfrm>
          <a:prstGeom prst="rect">
            <a:avLst/>
          </a:prstGeom>
          <a:noFill/>
          <a:ln/>
        </p:spPr>
        <p:txBody>
          <a:bodyPr wrap="square" lIns="25400" tIns="25400" rIns="25400" bIns="25400" rtlCol="0" anchor="t">
            <a:normAutofit/>
          </a:bodyPr>
          <a:lstStyle/>
          <a:p>
            <a:pPr algn="ctr" indent="0" marL="0">
              <a:buNone/>
            </a:pPr>
            <a:r>
              <a:rPr lang="en-US" sz="1500" b="1" spc="30" kern="0" dirty="0">
                <a:solidFill>
                  <a:srgbClr val="F4D773"/>
                </a:solidFill>
                <a:latin typeface="Cinzel" pitchFamily="34" charset="0"/>
                <a:ea typeface="Cinzel" pitchFamily="34" charset="-122"/>
                <a:cs typeface="Cinzel" pitchFamily="34" charset="-120"/>
              </a:rPr>
              <a:t>GestoriaRD</a:t>
            </a:r>
            <a:endParaRPr lang="en-US" sz="1500" dirty="0"/>
          </a:p>
        </p:txBody>
      </p:sp>
      <p:sp>
        <p:nvSpPr>
          <p:cNvPr id="15" name="Text 12"/>
          <p:cNvSpPr/>
          <p:nvPr/>
        </p:nvSpPr>
        <p:spPr>
          <a:xfrm>
            <a:off x="4416895" y="4843463"/>
            <a:ext cx="2801950" cy="195263"/>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9C9580"/>
                </a:solidFill>
                <a:latin typeface="Inter" pitchFamily="34" charset="0"/>
                <a:ea typeface="Inter" pitchFamily="34" charset="-122"/>
                <a:cs typeface="Inter" pitchFamily="34" charset="-120"/>
              </a:rPr>
              <a:t>SaaS · automatización declaraciones</a:t>
            </a:r>
            <a:endParaRPr lang="en-US" sz="825" dirty="0"/>
          </a:p>
        </p:txBody>
      </p:sp>
      <p:sp>
        <p:nvSpPr>
          <p:cNvPr id="16" name="Text 13"/>
          <p:cNvSpPr/>
          <p:nvPr/>
        </p:nvSpPr>
        <p:spPr>
          <a:xfrm>
            <a:off x="4416895" y="6276023"/>
            <a:ext cx="2801950" cy="14478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Courier New" pitchFamily="34" charset="0"/>
                <a:ea typeface="Courier New" pitchFamily="34" charset="-122"/>
                <a:cs typeface="Courier New" pitchFamily="34" charset="-120"/>
              </a:rPr>
              <a:t>FISCAL · SaaS</a:t>
            </a:r>
            <a:endParaRPr lang="en-US" sz="750" dirty="0"/>
          </a:p>
        </p:txBody>
      </p:sp>
      <p:sp>
        <p:nvSpPr>
          <p:cNvPr id="17" name="Shape 14"/>
          <p:cNvSpPr/>
          <p:nvPr/>
        </p:nvSpPr>
        <p:spPr>
          <a:xfrm>
            <a:off x="7566660" y="4184333"/>
            <a:ext cx="3154680" cy="2491740"/>
          </a:xfrm>
          <a:prstGeom prst="rect">
            <a:avLst/>
          </a:prstGeom>
          <a:ln w="7620">
            <a:solidFill>
              <a:srgbClr val="D4AF37">
                <a:alpha val="22000"/>
              </a:srgbClr>
            </a:solidFill>
            <a:prstDash val="solid"/>
          </a:ln>
        </p:spPr>
      </p:sp>
      <p:sp>
        <p:nvSpPr>
          <p:cNvPr id="18" name="Text 15"/>
          <p:cNvSpPr/>
          <p:nvPr/>
        </p:nvSpPr>
        <p:spPr>
          <a:xfrm>
            <a:off x="7743025" y="4477703"/>
            <a:ext cx="2801950" cy="289560"/>
          </a:xfrm>
          <a:prstGeom prst="rect">
            <a:avLst/>
          </a:prstGeom>
          <a:noFill/>
          <a:ln/>
        </p:spPr>
        <p:txBody>
          <a:bodyPr wrap="square" lIns="25400" tIns="25400" rIns="25400" bIns="25400" rtlCol="0" anchor="t">
            <a:normAutofit/>
          </a:bodyPr>
          <a:lstStyle/>
          <a:p>
            <a:pPr algn="ctr" indent="0" marL="0">
              <a:buNone/>
            </a:pPr>
            <a:r>
              <a:rPr lang="en-US" sz="1500" b="1" spc="30" kern="0" dirty="0">
                <a:solidFill>
                  <a:srgbClr val="F4D773"/>
                </a:solidFill>
                <a:latin typeface="Cinzel" pitchFamily="34" charset="0"/>
                <a:ea typeface="Cinzel" pitchFamily="34" charset="-122"/>
                <a:cs typeface="Cinzel" pitchFamily="34" charset="-120"/>
              </a:rPr>
              <a:t>Portal DGII</a:t>
            </a:r>
            <a:endParaRPr lang="en-US" sz="1500" dirty="0"/>
          </a:p>
        </p:txBody>
      </p:sp>
      <p:sp>
        <p:nvSpPr>
          <p:cNvPr id="19" name="Text 16"/>
          <p:cNvSpPr/>
          <p:nvPr/>
        </p:nvSpPr>
        <p:spPr>
          <a:xfrm>
            <a:off x="7743025" y="4843463"/>
            <a:ext cx="2801950" cy="195263"/>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9C9580"/>
                </a:solidFill>
                <a:latin typeface="Inter" pitchFamily="34" charset="0"/>
                <a:ea typeface="Inter" pitchFamily="34" charset="-122"/>
                <a:cs typeface="Inter" pitchFamily="34" charset="-120"/>
              </a:rPr>
              <a:t>Sometimiento directo · sin intermediarios</a:t>
            </a:r>
            <a:endParaRPr lang="en-US" sz="825" dirty="0"/>
          </a:p>
        </p:txBody>
      </p:sp>
      <p:sp>
        <p:nvSpPr>
          <p:cNvPr id="20" name="Text 17"/>
          <p:cNvSpPr/>
          <p:nvPr/>
        </p:nvSpPr>
        <p:spPr>
          <a:xfrm>
            <a:off x="7743025" y="6276023"/>
            <a:ext cx="2801950" cy="14478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Courier New" pitchFamily="34" charset="0"/>
                <a:ea typeface="Courier New" pitchFamily="34" charset="-122"/>
                <a:cs typeface="Courier New" pitchFamily="34" charset="-120"/>
              </a:rPr>
              <a:t>DGII · ONLINE</a:t>
            </a:r>
            <a:endParaRPr lang="en-US" sz="750" dirty="0"/>
          </a:p>
        </p:txBody>
      </p:sp>
      <p:sp>
        <p:nvSpPr>
          <p:cNvPr id="21" name="Shape 18"/>
          <p:cNvSpPr/>
          <p:nvPr/>
        </p:nvSpPr>
        <p:spPr>
          <a:xfrm>
            <a:off x="10892790" y="4184333"/>
            <a:ext cx="3154680" cy="2491740"/>
          </a:xfrm>
          <a:prstGeom prst="rect">
            <a:avLst/>
          </a:prstGeom>
          <a:ln w="7620">
            <a:solidFill>
              <a:srgbClr val="D4AF37">
                <a:alpha val="22000"/>
              </a:srgbClr>
            </a:solidFill>
            <a:prstDash val="solid"/>
          </a:ln>
        </p:spPr>
      </p:sp>
      <p:sp>
        <p:nvSpPr>
          <p:cNvPr id="22" name="Text 19"/>
          <p:cNvSpPr/>
          <p:nvPr/>
        </p:nvSpPr>
        <p:spPr>
          <a:xfrm>
            <a:off x="11069155" y="4477703"/>
            <a:ext cx="2801950" cy="289560"/>
          </a:xfrm>
          <a:prstGeom prst="rect">
            <a:avLst/>
          </a:prstGeom>
          <a:noFill/>
          <a:ln/>
        </p:spPr>
        <p:txBody>
          <a:bodyPr wrap="square" lIns="25400" tIns="25400" rIns="25400" bIns="25400" rtlCol="0" anchor="t">
            <a:normAutofit/>
          </a:bodyPr>
          <a:lstStyle/>
          <a:p>
            <a:pPr algn="ctr" indent="0" marL="0">
              <a:buNone/>
            </a:pPr>
            <a:r>
              <a:rPr lang="en-US" sz="1500" b="1" spc="30" kern="0" dirty="0">
                <a:solidFill>
                  <a:srgbClr val="F4D773"/>
                </a:solidFill>
                <a:latin typeface="Cinzel" pitchFamily="34" charset="0"/>
                <a:ea typeface="Cinzel" pitchFamily="34" charset="-122"/>
                <a:cs typeface="Cinzel" pitchFamily="34" charset="-120"/>
              </a:rPr>
              <a:t>Firma Electrónica</a:t>
            </a:r>
            <a:endParaRPr lang="en-US" sz="1500" dirty="0"/>
          </a:p>
        </p:txBody>
      </p:sp>
      <p:sp>
        <p:nvSpPr>
          <p:cNvPr id="23" name="Text 20"/>
          <p:cNvSpPr/>
          <p:nvPr/>
        </p:nvSpPr>
        <p:spPr>
          <a:xfrm>
            <a:off x="11069155" y="4843463"/>
            <a:ext cx="2801950" cy="195263"/>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9C9580"/>
                </a:solidFill>
                <a:latin typeface="Inter" pitchFamily="34" charset="0"/>
                <a:ea typeface="Inter" pitchFamily="34" charset="-122"/>
                <a:cs typeface="Inter" pitchFamily="34" charset="-120"/>
              </a:rPr>
              <a:t>Certificada RD · documentos legales</a:t>
            </a:r>
            <a:endParaRPr lang="en-US" sz="825" dirty="0"/>
          </a:p>
        </p:txBody>
      </p:sp>
      <p:sp>
        <p:nvSpPr>
          <p:cNvPr id="24" name="Text 21"/>
          <p:cNvSpPr/>
          <p:nvPr/>
        </p:nvSpPr>
        <p:spPr>
          <a:xfrm>
            <a:off x="11069155" y="6276023"/>
            <a:ext cx="2801950" cy="14478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Courier New" pitchFamily="34" charset="0"/>
                <a:ea typeface="Courier New" pitchFamily="34" charset="-122"/>
                <a:cs typeface="Courier New" pitchFamily="34" charset="-120"/>
              </a:rPr>
              <a:t>LEGAL · CRYPTO</a:t>
            </a:r>
            <a:endParaRPr lang="en-US" sz="750" dirty="0"/>
          </a:p>
        </p:txBody>
      </p:sp>
      <p:sp>
        <p:nvSpPr>
          <p:cNvPr id="25" name="Shape 22"/>
          <p:cNvSpPr/>
          <p:nvPr/>
        </p:nvSpPr>
        <p:spPr>
          <a:xfrm>
            <a:off x="14218920" y="4184333"/>
            <a:ext cx="3154680" cy="2491740"/>
          </a:xfrm>
          <a:prstGeom prst="rect">
            <a:avLst/>
          </a:prstGeom>
          <a:ln w="7620">
            <a:solidFill>
              <a:srgbClr val="D4AF37">
                <a:alpha val="22000"/>
              </a:srgbClr>
            </a:solidFill>
            <a:prstDash val="solid"/>
          </a:ln>
        </p:spPr>
      </p:sp>
      <p:sp>
        <p:nvSpPr>
          <p:cNvPr id="26" name="Text 23"/>
          <p:cNvSpPr/>
          <p:nvPr/>
        </p:nvSpPr>
        <p:spPr>
          <a:xfrm>
            <a:off x="14395285" y="4477703"/>
            <a:ext cx="2801950" cy="289560"/>
          </a:xfrm>
          <a:prstGeom prst="rect">
            <a:avLst/>
          </a:prstGeom>
          <a:noFill/>
          <a:ln/>
        </p:spPr>
        <p:txBody>
          <a:bodyPr wrap="square" lIns="25400" tIns="25400" rIns="25400" bIns="25400" rtlCol="0" anchor="t">
            <a:normAutofit/>
          </a:bodyPr>
          <a:lstStyle/>
          <a:p>
            <a:pPr algn="ctr" indent="0" marL="0">
              <a:buNone/>
            </a:pPr>
            <a:r>
              <a:rPr lang="en-US" sz="1500" b="1" spc="30" kern="0" dirty="0">
                <a:solidFill>
                  <a:srgbClr val="F4D773"/>
                </a:solidFill>
                <a:latin typeface="Cinzel" pitchFamily="34" charset="0"/>
                <a:ea typeface="Cinzel" pitchFamily="34" charset="-122"/>
                <a:cs typeface="Cinzel" pitchFamily="34" charset="-120"/>
              </a:rPr>
              <a:t>WhatsApp Business</a:t>
            </a:r>
            <a:endParaRPr lang="en-US" sz="1500" dirty="0"/>
          </a:p>
        </p:txBody>
      </p:sp>
      <p:sp>
        <p:nvSpPr>
          <p:cNvPr id="27" name="Text 24"/>
          <p:cNvSpPr/>
          <p:nvPr/>
        </p:nvSpPr>
        <p:spPr>
          <a:xfrm>
            <a:off x="14395285" y="4843463"/>
            <a:ext cx="2801950" cy="195263"/>
          </a:xfrm>
          <a:prstGeom prst="rect">
            <a:avLst/>
          </a:prstGeom>
          <a:noFill/>
          <a:ln/>
        </p:spPr>
        <p:txBody>
          <a:bodyPr wrap="square" lIns="25400" tIns="25400" rIns="25400" bIns="25400" rtlCol="0" anchor="t">
            <a:normAutofit/>
          </a:bodyPr>
          <a:lstStyle/>
          <a:p>
            <a:pPr algn="ctr" indent="0" marL="0">
              <a:lnSpc>
                <a:spcPct val="150000"/>
              </a:lnSpc>
              <a:buNone/>
            </a:pPr>
            <a:r>
              <a:rPr lang="en-US" sz="825" dirty="0">
                <a:solidFill>
                  <a:srgbClr val="9C9580"/>
                </a:solidFill>
                <a:latin typeface="Inter" pitchFamily="34" charset="0"/>
                <a:ea typeface="Inter" pitchFamily="34" charset="-122"/>
                <a:cs typeface="Inter" pitchFamily="34" charset="-120"/>
              </a:rPr>
              <a:t>Canal cliente preferente · &lt; 24h</a:t>
            </a:r>
            <a:endParaRPr lang="en-US" sz="825" dirty="0"/>
          </a:p>
        </p:txBody>
      </p:sp>
      <p:sp>
        <p:nvSpPr>
          <p:cNvPr id="28" name="Text 25"/>
          <p:cNvSpPr/>
          <p:nvPr/>
        </p:nvSpPr>
        <p:spPr>
          <a:xfrm>
            <a:off x="14395285" y="6276023"/>
            <a:ext cx="2801950" cy="144780"/>
          </a:xfrm>
          <a:prstGeom prst="rect">
            <a:avLst/>
          </a:prstGeom>
          <a:noFill/>
          <a:ln/>
        </p:spPr>
        <p:txBody>
          <a:bodyPr wrap="square" lIns="25400" tIns="25400" rIns="25400" bIns="25400" rtlCol="0" anchor="t">
            <a:normAutofit/>
          </a:bodyPr>
          <a:lstStyle/>
          <a:p>
            <a:pPr algn="ctr" indent="0" marL="0">
              <a:buNone/>
            </a:pPr>
            <a:r>
              <a:rPr lang="en-US" sz="750" spc="135" kern="0" dirty="0">
                <a:solidFill>
                  <a:srgbClr val="8B5E1A"/>
                </a:solidFill>
                <a:latin typeface="Courier New" pitchFamily="34" charset="0"/>
                <a:ea typeface="Courier New" pitchFamily="34" charset="-122"/>
                <a:cs typeface="Courier New" pitchFamily="34" charset="-120"/>
              </a:rPr>
              <a:t>CLIENTE · MSG</a:t>
            </a:r>
            <a:endParaRPr lang="en-US" sz="750" dirty="0"/>
          </a:p>
        </p:txBody>
      </p:sp>
      <p:sp>
        <p:nvSpPr>
          <p:cNvPr id="29" name="Text 26"/>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30" name="Text 27"/>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12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12 · POR QUÉ HUYGHU</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Diferenciadores.</a:t>
            </a:r>
            <a:endParaRPr lang="en-US" sz="6300" dirty="0"/>
          </a:p>
        </p:txBody>
      </p:sp>
      <p:sp>
        <p:nvSpPr>
          <p:cNvPr id="8" name="Shape 5"/>
          <p:cNvSpPr/>
          <p:nvPr/>
        </p:nvSpPr>
        <p:spPr>
          <a:xfrm>
            <a:off x="914400" y="3152775"/>
            <a:ext cx="8096250" cy="1735455"/>
          </a:xfrm>
          <a:prstGeom prst="rect">
            <a:avLst/>
          </a:prstGeom>
          <a:solidFill>
            <a:srgbClr val="D4AF37">
              <a:alpha val="8000"/>
            </a:srgbClr>
          </a:solidFill>
          <a:ln w="7620">
            <a:solidFill>
              <a:srgbClr val="D4AF37"/>
            </a:solidFill>
            <a:prstDash val="solid"/>
          </a:ln>
        </p:spPr>
      </p:sp>
      <p:sp>
        <p:nvSpPr>
          <p:cNvPr id="9" name="Text 6"/>
          <p:cNvSpPr/>
          <p:nvPr/>
        </p:nvSpPr>
        <p:spPr>
          <a:xfrm>
            <a:off x="1303020" y="3677603"/>
            <a:ext cx="12192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08" kern="0" dirty="0">
                <a:solidFill>
                  <a:srgbClr val="F4D773"/>
                </a:solidFill>
                <a:latin typeface="Cinzel" pitchFamily="34" charset="0"/>
                <a:ea typeface="Cinzel" pitchFamily="34" charset="-122"/>
                <a:cs typeface="Cinzel" pitchFamily="34" charset="-120"/>
              </a:rPr>
              <a:t>01</a:t>
            </a:r>
            <a:endParaRPr lang="en-US" sz="5400" dirty="0"/>
          </a:p>
        </p:txBody>
      </p:sp>
      <p:sp>
        <p:nvSpPr>
          <p:cNvPr id="10" name="Text 7"/>
          <p:cNvSpPr/>
          <p:nvPr/>
        </p:nvSpPr>
        <p:spPr>
          <a:xfrm>
            <a:off x="2712720" y="3617595"/>
            <a:ext cx="6086590" cy="373380"/>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F4D773"/>
                </a:solidFill>
                <a:latin typeface="Cinzel" pitchFamily="34" charset="0"/>
                <a:ea typeface="Cinzel" pitchFamily="34" charset="-122"/>
                <a:cs typeface="Cinzel" pitchFamily="34" charset="-120"/>
              </a:rPr>
              <a:t>Respuesta &lt; 24 h</a:t>
            </a:r>
            <a:endParaRPr lang="en-US" sz="1950" dirty="0"/>
          </a:p>
        </p:txBody>
      </p:sp>
      <p:sp>
        <p:nvSpPr>
          <p:cNvPr id="11" name="Text 8"/>
          <p:cNvSpPr/>
          <p:nvPr/>
        </p:nvSpPr>
        <p:spPr>
          <a:xfrm>
            <a:off x="2712720" y="4010025"/>
            <a:ext cx="6086590"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Tiempo de respuesta SLA en consultas operativas. Sin esperas de tres días para una factura de ITBIS.</a:t>
            </a:r>
            <a:endParaRPr lang="en-US" sz="1050" dirty="0"/>
          </a:p>
        </p:txBody>
      </p:sp>
      <p:sp>
        <p:nvSpPr>
          <p:cNvPr id="12" name="Shape 9"/>
          <p:cNvSpPr/>
          <p:nvPr/>
        </p:nvSpPr>
        <p:spPr>
          <a:xfrm>
            <a:off x="9277350" y="3152775"/>
            <a:ext cx="8096250" cy="1735455"/>
          </a:xfrm>
          <a:prstGeom prst="rect">
            <a:avLst/>
          </a:prstGeom>
          <a:solidFill>
            <a:srgbClr val="D4AF37">
              <a:alpha val="8000"/>
            </a:srgbClr>
          </a:solidFill>
          <a:ln w="7620">
            <a:solidFill>
              <a:srgbClr val="D4AF37"/>
            </a:solidFill>
            <a:prstDash val="solid"/>
          </a:ln>
        </p:spPr>
      </p:sp>
      <p:sp>
        <p:nvSpPr>
          <p:cNvPr id="13" name="Text 10"/>
          <p:cNvSpPr/>
          <p:nvPr/>
        </p:nvSpPr>
        <p:spPr>
          <a:xfrm>
            <a:off x="9665970" y="3677603"/>
            <a:ext cx="12192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08" kern="0" dirty="0">
                <a:solidFill>
                  <a:srgbClr val="F4D773"/>
                </a:solidFill>
                <a:latin typeface="Cinzel" pitchFamily="34" charset="0"/>
                <a:ea typeface="Cinzel" pitchFamily="34" charset="-122"/>
                <a:cs typeface="Cinzel" pitchFamily="34" charset="-120"/>
              </a:rPr>
              <a:t>02</a:t>
            </a:r>
            <a:endParaRPr lang="en-US" sz="5400" dirty="0"/>
          </a:p>
        </p:txBody>
      </p:sp>
      <p:sp>
        <p:nvSpPr>
          <p:cNvPr id="14" name="Text 11"/>
          <p:cNvSpPr/>
          <p:nvPr/>
        </p:nvSpPr>
        <p:spPr>
          <a:xfrm>
            <a:off x="11075670" y="3617595"/>
            <a:ext cx="6086590" cy="373380"/>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F4D773"/>
                </a:solidFill>
                <a:latin typeface="Cinzel" pitchFamily="34" charset="0"/>
                <a:ea typeface="Cinzel" pitchFamily="34" charset="-122"/>
                <a:cs typeface="Cinzel" pitchFamily="34" charset="-120"/>
              </a:rPr>
              <a:t>Confidencialidad Ley 172-13</a:t>
            </a:r>
            <a:endParaRPr lang="en-US" sz="1950" dirty="0"/>
          </a:p>
        </p:txBody>
      </p:sp>
      <p:sp>
        <p:nvSpPr>
          <p:cNvPr id="15" name="Text 12"/>
          <p:cNvSpPr/>
          <p:nvPr/>
        </p:nvSpPr>
        <p:spPr>
          <a:xfrm>
            <a:off x="11075670" y="4010025"/>
            <a:ext cx="6086590"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Acuerdo de confidencialidad firmado en cada cuenta. Datos personales protegidos bajo la legislación RD vigente.</a:t>
            </a:r>
            <a:endParaRPr lang="en-US" sz="1050" dirty="0"/>
          </a:p>
        </p:txBody>
      </p:sp>
      <p:sp>
        <p:nvSpPr>
          <p:cNvPr id="16" name="Shape 13"/>
          <p:cNvSpPr/>
          <p:nvPr/>
        </p:nvSpPr>
        <p:spPr>
          <a:xfrm>
            <a:off x="914400" y="5154930"/>
            <a:ext cx="8096250" cy="1735455"/>
          </a:xfrm>
          <a:prstGeom prst="rect">
            <a:avLst/>
          </a:prstGeom>
          <a:solidFill>
            <a:srgbClr val="D4AF37">
              <a:alpha val="8000"/>
            </a:srgbClr>
          </a:solidFill>
          <a:ln w="7620">
            <a:solidFill>
              <a:srgbClr val="D4AF37"/>
            </a:solidFill>
            <a:prstDash val="solid"/>
          </a:ln>
        </p:spPr>
      </p:sp>
      <p:sp>
        <p:nvSpPr>
          <p:cNvPr id="17" name="Text 14"/>
          <p:cNvSpPr/>
          <p:nvPr/>
        </p:nvSpPr>
        <p:spPr>
          <a:xfrm>
            <a:off x="1303020" y="5679757"/>
            <a:ext cx="12192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08" kern="0" dirty="0">
                <a:solidFill>
                  <a:srgbClr val="F4D773"/>
                </a:solidFill>
                <a:latin typeface="Cinzel" pitchFamily="34" charset="0"/>
                <a:ea typeface="Cinzel" pitchFamily="34" charset="-122"/>
                <a:cs typeface="Cinzel" pitchFamily="34" charset="-120"/>
              </a:rPr>
              <a:t>03</a:t>
            </a:r>
            <a:endParaRPr lang="en-US" sz="5400" dirty="0"/>
          </a:p>
        </p:txBody>
      </p:sp>
      <p:sp>
        <p:nvSpPr>
          <p:cNvPr id="18" name="Text 15"/>
          <p:cNvSpPr/>
          <p:nvPr/>
        </p:nvSpPr>
        <p:spPr>
          <a:xfrm>
            <a:off x="2712720" y="5619750"/>
            <a:ext cx="6086590" cy="373380"/>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F4D773"/>
                </a:solidFill>
                <a:latin typeface="Cinzel" pitchFamily="34" charset="0"/>
                <a:ea typeface="Cinzel" pitchFamily="34" charset="-122"/>
                <a:cs typeface="Cinzel" pitchFamily="34" charset="-120"/>
              </a:rPr>
              <a:t>Sin sorpresas facturación</a:t>
            </a:r>
            <a:endParaRPr lang="en-US" sz="1950" dirty="0"/>
          </a:p>
        </p:txBody>
      </p:sp>
      <p:sp>
        <p:nvSpPr>
          <p:cNvPr id="19" name="Text 16"/>
          <p:cNvSpPr/>
          <p:nvPr/>
        </p:nvSpPr>
        <p:spPr>
          <a:xfrm>
            <a:off x="2712720" y="6012180"/>
            <a:ext cx="6086590"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Precio fijo mensual acordado por contrato. Cualquier extraordinario se cotiza por escrito antes de ejecutar.</a:t>
            </a:r>
            <a:endParaRPr lang="en-US" sz="1050" dirty="0"/>
          </a:p>
        </p:txBody>
      </p:sp>
      <p:sp>
        <p:nvSpPr>
          <p:cNvPr id="20" name="Shape 17"/>
          <p:cNvSpPr/>
          <p:nvPr/>
        </p:nvSpPr>
        <p:spPr>
          <a:xfrm>
            <a:off x="9277350" y="5154930"/>
            <a:ext cx="8096250" cy="1735455"/>
          </a:xfrm>
          <a:prstGeom prst="rect">
            <a:avLst/>
          </a:prstGeom>
          <a:solidFill>
            <a:srgbClr val="D4AF37">
              <a:alpha val="8000"/>
            </a:srgbClr>
          </a:solidFill>
          <a:ln w="7620">
            <a:solidFill>
              <a:srgbClr val="D4AF37"/>
            </a:solidFill>
            <a:prstDash val="solid"/>
          </a:ln>
        </p:spPr>
      </p:sp>
      <p:sp>
        <p:nvSpPr>
          <p:cNvPr id="21" name="Text 18"/>
          <p:cNvSpPr/>
          <p:nvPr/>
        </p:nvSpPr>
        <p:spPr>
          <a:xfrm>
            <a:off x="9665970" y="5679757"/>
            <a:ext cx="12192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08" kern="0" dirty="0">
                <a:solidFill>
                  <a:srgbClr val="F4D773"/>
                </a:solidFill>
                <a:latin typeface="Cinzel" pitchFamily="34" charset="0"/>
                <a:ea typeface="Cinzel" pitchFamily="34" charset="-122"/>
                <a:cs typeface="Cinzel" pitchFamily="34" charset="-120"/>
              </a:rPr>
              <a:t>04</a:t>
            </a:r>
            <a:endParaRPr lang="en-US" sz="5400" dirty="0"/>
          </a:p>
        </p:txBody>
      </p:sp>
      <p:sp>
        <p:nvSpPr>
          <p:cNvPr id="22" name="Text 19"/>
          <p:cNvSpPr/>
          <p:nvPr/>
        </p:nvSpPr>
        <p:spPr>
          <a:xfrm>
            <a:off x="11075670" y="5723097"/>
            <a:ext cx="5860942" cy="373380"/>
          </a:xfrm>
          <a:prstGeom prst="rect">
            <a:avLst/>
          </a:prstGeom>
          <a:noFill/>
          <a:ln/>
        </p:spPr>
        <p:txBody>
          <a:bodyPr wrap="square" lIns="25400" tIns="25400" rIns="25400" bIns="25400" rtlCol="0" anchor="t">
            <a:normAutofit/>
          </a:bodyPr>
          <a:lstStyle/>
          <a:p>
            <a:pPr algn="l" indent="0" marL="0">
              <a:buNone/>
            </a:pPr>
            <a:r>
              <a:rPr lang="en-US" sz="1950" spc="39" kern="0" dirty="0">
                <a:solidFill>
                  <a:srgbClr val="F4D773"/>
                </a:solidFill>
                <a:latin typeface="Cinzel" pitchFamily="34" charset="0"/>
                <a:ea typeface="Cinzel" pitchFamily="34" charset="-122"/>
                <a:cs typeface="Cinzel" pitchFamily="34" charset="-120"/>
              </a:rPr>
              <a:t>Reportes ejecutivos mensuales</a:t>
            </a:r>
            <a:endParaRPr lang="en-US" sz="1950" dirty="0"/>
          </a:p>
        </p:txBody>
      </p:sp>
      <p:sp>
        <p:nvSpPr>
          <p:cNvPr id="23" name="Text 20"/>
          <p:cNvSpPr/>
          <p:nvPr/>
        </p:nvSpPr>
        <p:spPr>
          <a:xfrm>
            <a:off x="11075670" y="6115526"/>
            <a:ext cx="5860942"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El cliente recibe un dashboard mensual de KPIs financieros, no solo paquetes para la DGII.</a:t>
            </a:r>
            <a:endParaRPr lang="en-US" sz="1050" dirty="0"/>
          </a:p>
        </p:txBody>
      </p:sp>
      <p:sp>
        <p:nvSpPr>
          <p:cNvPr id="24" name="Text 21"/>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25" name="Text 22"/>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13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13 · DE CERO A OPERANDO</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Onboarding · 4 pasos.</a:t>
            </a:r>
            <a:endParaRPr lang="en-US" sz="6300" dirty="0"/>
          </a:p>
        </p:txBody>
      </p:sp>
      <p:sp>
        <p:nvSpPr>
          <p:cNvPr id="8" name="Text 5"/>
          <p:cNvSpPr/>
          <p:nvPr/>
        </p:nvSpPr>
        <p:spPr>
          <a:xfrm>
            <a:off x="914400" y="3095625"/>
            <a:ext cx="10791825" cy="421957"/>
          </a:xfrm>
          <a:prstGeom prst="rect">
            <a:avLst/>
          </a:prstGeom>
          <a:noFill/>
          <a:ln/>
        </p:spPr>
        <p:txBody>
          <a:bodyPr wrap="square" lIns="25400" tIns="25400" rIns="25400" bIns="25400" rtlCol="0" anchor="t">
            <a:normAutofit/>
          </a:bodyPr>
          <a:lstStyle/>
          <a:p>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De firma de contrato a primera entrega mensual </a:t>
            </a:r>
            <a:pPr algn="l" indent="0" marL="0">
              <a:lnSpc>
                <a:spcPct val="155000"/>
              </a:lnSpc>
              <a:buNone/>
            </a:pPr>
            <a:r>
              <a:rPr lang="en-US" sz="1950" dirty="0">
                <a:solidFill>
                  <a:srgbClr val="F4D773"/>
                </a:solidFill>
                <a:latin typeface="Inter" pitchFamily="34" charset="0"/>
                <a:ea typeface="Inter" pitchFamily="34" charset="-122"/>
                <a:cs typeface="Inter" pitchFamily="34" charset="-120"/>
              </a:rPr>
              <a:t>en menos de 30 días</a:t>
            </a:r>
            <a:pPr algn="l" indent="0" marL="0">
              <a:lnSpc>
                <a:spcPct val="155000"/>
              </a:lnSpc>
              <a:buNone/>
            </a:pPr>
            <a:r>
              <a:rPr lang="en-US" sz="1950" dirty="0">
                <a:solidFill>
                  <a:srgbClr val="E7DDB8"/>
                </a:solidFill>
                <a:latin typeface="Inter" pitchFamily="34" charset="0"/>
                <a:ea typeface="Inter" pitchFamily="34" charset="-122"/>
                <a:cs typeface="Inter" pitchFamily="34" charset="-120"/>
              </a:rPr>
              <a:t>.</a:t>
            </a:r>
            <a:endParaRPr lang="en-US" sz="1950" dirty="0"/>
          </a:p>
        </p:txBody>
      </p:sp>
      <p:sp>
        <p:nvSpPr>
          <p:cNvPr id="9" name="Shape 6"/>
          <p:cNvSpPr/>
          <p:nvPr/>
        </p:nvSpPr>
        <p:spPr>
          <a:xfrm>
            <a:off x="2516505" y="4184333"/>
            <a:ext cx="739140" cy="739140"/>
          </a:xfrm>
          <a:prstGeom prst="ellipse">
            <a:avLst/>
          </a:prstGeom>
          <a:solidFill>
            <a:srgbClr val="0A0A0A"/>
          </a:solidFill>
          <a:ln w="7620">
            <a:solidFill>
              <a:srgbClr val="D4AF37"/>
            </a:solidFill>
            <a:prstDash val="solid"/>
          </a:ln>
        </p:spPr>
      </p:sp>
      <p:sp>
        <p:nvSpPr>
          <p:cNvPr id="10" name="Text 7"/>
          <p:cNvSpPr/>
          <p:nvPr/>
        </p:nvSpPr>
        <p:spPr>
          <a:xfrm>
            <a:off x="2486025" y="4191953"/>
            <a:ext cx="800100" cy="7620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4D773"/>
                </a:solidFill>
                <a:latin typeface="Cinzel" pitchFamily="34" charset="0"/>
                <a:ea typeface="Cinzel" pitchFamily="34" charset="-122"/>
                <a:cs typeface="Cinzel" pitchFamily="34" charset="-120"/>
              </a:rPr>
              <a:t>1</a:t>
            </a:r>
            <a:endParaRPr lang="en-US" sz="2400" dirty="0"/>
          </a:p>
        </p:txBody>
      </p:sp>
      <p:sp>
        <p:nvSpPr>
          <p:cNvPr id="11" name="Text 8"/>
          <p:cNvSpPr/>
          <p:nvPr/>
        </p:nvSpPr>
        <p:spPr>
          <a:xfrm>
            <a:off x="2640925" y="5056823"/>
            <a:ext cx="490180" cy="160020"/>
          </a:xfrm>
          <a:prstGeom prst="rect">
            <a:avLst/>
          </a:prstGeom>
          <a:noFill/>
          <a:ln/>
        </p:spPr>
        <p:txBody>
          <a:bodyPr wrap="square" lIns="25400" tIns="25400" rIns="25400" bIns="25400" rtlCol="0" anchor="t">
            <a:normAutofit/>
          </a:bodyPr>
          <a:lstStyle/>
          <a:p>
            <a:pPr algn="ctr" indent="0" marL="0">
              <a:buNone/>
            </a:pPr>
            <a:r>
              <a:rPr lang="en-US" sz="825" b="1" spc="231" kern="0" dirty="0">
                <a:solidFill>
                  <a:srgbClr val="8B5E1A"/>
                </a:solidFill>
                <a:latin typeface="Montserrat" pitchFamily="34" charset="0"/>
                <a:ea typeface="Montserrat" pitchFamily="34" charset="-122"/>
                <a:cs typeface="Montserrat" pitchFamily="34" charset="-120"/>
              </a:rPr>
              <a:t>DÍA 1</a:t>
            </a:r>
            <a:endParaRPr lang="en-US" sz="825" dirty="0"/>
          </a:p>
        </p:txBody>
      </p:sp>
      <p:sp>
        <p:nvSpPr>
          <p:cNvPr id="12" name="Text 9"/>
          <p:cNvSpPr/>
          <p:nvPr/>
        </p:nvSpPr>
        <p:spPr>
          <a:xfrm>
            <a:off x="1667828" y="5312093"/>
            <a:ext cx="2436376" cy="289560"/>
          </a:xfrm>
          <a:prstGeom prst="rect">
            <a:avLst/>
          </a:prstGeom>
          <a:noFill/>
          <a:ln/>
        </p:spPr>
        <p:txBody>
          <a:bodyPr wrap="square" lIns="25400" tIns="25400" rIns="25400" bIns="25400" rtlCol="0" anchor="t">
            <a:normAutofit/>
          </a:bodyPr>
          <a:lstStyle/>
          <a:p>
            <a:pPr algn="ctr" indent="0" marL="0">
              <a:lnSpc>
                <a:spcPct val="120000"/>
              </a:lnSpc>
              <a:buNone/>
            </a:pPr>
            <a:r>
              <a:rPr lang="en-US" sz="1650" spc="33" kern="0" dirty="0">
                <a:solidFill>
                  <a:srgbClr val="F4D773"/>
                </a:solidFill>
                <a:latin typeface="Cinzel" pitchFamily="34" charset="0"/>
                <a:ea typeface="Cinzel" pitchFamily="34" charset="-122"/>
                <a:cs typeface="Cinzel" pitchFamily="34" charset="-120"/>
              </a:rPr>
              <a:t>Diagnóstico inicial</a:t>
            </a:r>
            <a:endParaRPr lang="en-US" sz="1650" dirty="0"/>
          </a:p>
        </p:txBody>
      </p:sp>
      <p:sp>
        <p:nvSpPr>
          <p:cNvPr id="13" name="Text 10"/>
          <p:cNvSpPr/>
          <p:nvPr/>
        </p:nvSpPr>
        <p:spPr>
          <a:xfrm>
            <a:off x="1609725" y="5696903"/>
            <a:ext cx="2552700" cy="409575"/>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Reunión 60 minutos sin costo. Identificamos brechas y prioridades.</a:t>
            </a:r>
            <a:endParaRPr lang="en-US" sz="975" dirty="0"/>
          </a:p>
        </p:txBody>
      </p:sp>
      <p:sp>
        <p:nvSpPr>
          <p:cNvPr id="14" name="Shape 11"/>
          <p:cNvSpPr/>
          <p:nvPr/>
        </p:nvSpPr>
        <p:spPr>
          <a:xfrm>
            <a:off x="6688455" y="4184333"/>
            <a:ext cx="739140" cy="739140"/>
          </a:xfrm>
          <a:prstGeom prst="ellipse">
            <a:avLst/>
          </a:prstGeom>
          <a:solidFill>
            <a:srgbClr val="0A0A0A"/>
          </a:solidFill>
          <a:ln w="7620">
            <a:solidFill>
              <a:srgbClr val="D4AF37"/>
            </a:solidFill>
            <a:prstDash val="solid"/>
          </a:ln>
        </p:spPr>
      </p:sp>
      <p:sp>
        <p:nvSpPr>
          <p:cNvPr id="15" name="Text 12"/>
          <p:cNvSpPr/>
          <p:nvPr/>
        </p:nvSpPr>
        <p:spPr>
          <a:xfrm>
            <a:off x="6657975" y="4191953"/>
            <a:ext cx="800100" cy="7620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4D773"/>
                </a:solidFill>
                <a:latin typeface="Cinzel" pitchFamily="34" charset="0"/>
                <a:ea typeface="Cinzel" pitchFamily="34" charset="-122"/>
                <a:cs typeface="Cinzel" pitchFamily="34" charset="-120"/>
              </a:rPr>
              <a:t>2</a:t>
            </a:r>
            <a:endParaRPr lang="en-US" sz="2400" dirty="0"/>
          </a:p>
        </p:txBody>
      </p:sp>
      <p:sp>
        <p:nvSpPr>
          <p:cNvPr id="16" name="Text 13"/>
          <p:cNvSpPr/>
          <p:nvPr/>
        </p:nvSpPr>
        <p:spPr>
          <a:xfrm>
            <a:off x="6610350" y="5056823"/>
            <a:ext cx="895231" cy="160020"/>
          </a:xfrm>
          <a:prstGeom prst="rect">
            <a:avLst/>
          </a:prstGeom>
          <a:noFill/>
          <a:ln/>
        </p:spPr>
        <p:txBody>
          <a:bodyPr wrap="square" lIns="25400" tIns="25400" rIns="25400" bIns="25400" rtlCol="0" anchor="t">
            <a:normAutofit/>
          </a:bodyPr>
          <a:lstStyle/>
          <a:p>
            <a:pPr algn="ctr" indent="0" marL="0">
              <a:buNone/>
            </a:pPr>
            <a:r>
              <a:rPr lang="en-US" sz="825" b="1" spc="231" kern="0" dirty="0">
                <a:solidFill>
                  <a:srgbClr val="8B5E1A"/>
                </a:solidFill>
                <a:latin typeface="Montserrat" pitchFamily="34" charset="0"/>
                <a:ea typeface="Montserrat" pitchFamily="34" charset="-122"/>
                <a:cs typeface="Montserrat" pitchFamily="34" charset="-120"/>
              </a:rPr>
              <a:t>DÍAS 2 – 5</a:t>
            </a:r>
            <a:endParaRPr lang="en-US" sz="825" dirty="0"/>
          </a:p>
        </p:txBody>
      </p:sp>
      <p:sp>
        <p:nvSpPr>
          <p:cNvPr id="17" name="Text 14"/>
          <p:cNvSpPr/>
          <p:nvPr/>
        </p:nvSpPr>
        <p:spPr>
          <a:xfrm>
            <a:off x="5536134" y="5312093"/>
            <a:ext cx="3043663" cy="289560"/>
          </a:xfrm>
          <a:prstGeom prst="rect">
            <a:avLst/>
          </a:prstGeom>
          <a:noFill/>
          <a:ln/>
        </p:spPr>
        <p:txBody>
          <a:bodyPr wrap="square" lIns="25400" tIns="25400" rIns="25400" bIns="25400" rtlCol="0" anchor="t">
            <a:normAutofit/>
          </a:bodyPr>
          <a:lstStyle/>
          <a:p>
            <a:pPr algn="ctr" indent="0" marL="0">
              <a:lnSpc>
                <a:spcPct val="120000"/>
              </a:lnSpc>
              <a:buNone/>
            </a:pPr>
            <a:r>
              <a:rPr lang="en-US" sz="1650" spc="33" kern="0" dirty="0">
                <a:solidFill>
                  <a:srgbClr val="F4D773"/>
                </a:solidFill>
                <a:latin typeface="Cinzel" pitchFamily="34" charset="0"/>
                <a:ea typeface="Cinzel" pitchFamily="34" charset="-122"/>
                <a:cs typeface="Cinzel" pitchFamily="34" charset="-120"/>
              </a:rPr>
              <a:t>Propuesta personalizada</a:t>
            </a:r>
            <a:endParaRPr lang="en-US" sz="1650" dirty="0"/>
          </a:p>
        </p:txBody>
      </p:sp>
      <p:sp>
        <p:nvSpPr>
          <p:cNvPr id="18" name="Text 15"/>
          <p:cNvSpPr/>
          <p:nvPr/>
        </p:nvSpPr>
        <p:spPr>
          <a:xfrm>
            <a:off x="5781675" y="5696903"/>
            <a:ext cx="2552700" cy="409575"/>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Cotización formal en 3 días hábiles con alcance, precio y SLAs.</a:t>
            </a:r>
            <a:endParaRPr lang="en-US" sz="975" dirty="0"/>
          </a:p>
        </p:txBody>
      </p:sp>
      <p:sp>
        <p:nvSpPr>
          <p:cNvPr id="19" name="Shape 16"/>
          <p:cNvSpPr/>
          <p:nvPr/>
        </p:nvSpPr>
        <p:spPr>
          <a:xfrm>
            <a:off x="10860406" y="4184333"/>
            <a:ext cx="739140" cy="739140"/>
          </a:xfrm>
          <a:prstGeom prst="ellipse">
            <a:avLst/>
          </a:prstGeom>
          <a:solidFill>
            <a:srgbClr val="0A0A0A"/>
          </a:solidFill>
          <a:ln w="7620">
            <a:solidFill>
              <a:srgbClr val="D4AF37"/>
            </a:solidFill>
            <a:prstDash val="solid"/>
          </a:ln>
        </p:spPr>
      </p:sp>
      <p:sp>
        <p:nvSpPr>
          <p:cNvPr id="20" name="Text 17"/>
          <p:cNvSpPr/>
          <p:nvPr/>
        </p:nvSpPr>
        <p:spPr>
          <a:xfrm>
            <a:off x="10829926" y="4191953"/>
            <a:ext cx="800100" cy="7620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4D773"/>
                </a:solidFill>
                <a:latin typeface="Cinzel" pitchFamily="34" charset="0"/>
                <a:ea typeface="Cinzel" pitchFamily="34" charset="-122"/>
                <a:cs typeface="Cinzel" pitchFamily="34" charset="-120"/>
              </a:rPr>
              <a:t>3</a:t>
            </a:r>
            <a:endParaRPr lang="en-US" sz="2400" dirty="0"/>
          </a:p>
        </p:txBody>
      </p:sp>
      <p:sp>
        <p:nvSpPr>
          <p:cNvPr id="21" name="Text 18"/>
          <p:cNvSpPr/>
          <p:nvPr/>
        </p:nvSpPr>
        <p:spPr>
          <a:xfrm>
            <a:off x="10801112" y="5056823"/>
            <a:ext cx="857726" cy="160020"/>
          </a:xfrm>
          <a:prstGeom prst="rect">
            <a:avLst/>
          </a:prstGeom>
          <a:noFill/>
          <a:ln/>
        </p:spPr>
        <p:txBody>
          <a:bodyPr wrap="square" lIns="25400" tIns="25400" rIns="25400" bIns="25400" rtlCol="0" anchor="t">
            <a:normAutofit/>
          </a:bodyPr>
          <a:lstStyle/>
          <a:p>
            <a:pPr algn="ctr" indent="0" marL="0">
              <a:buNone/>
            </a:pPr>
            <a:r>
              <a:rPr lang="en-US" sz="825" b="1" spc="231" kern="0" dirty="0">
                <a:solidFill>
                  <a:srgbClr val="8B5E1A"/>
                </a:solidFill>
                <a:latin typeface="Montserrat" pitchFamily="34" charset="0"/>
                <a:ea typeface="Montserrat" pitchFamily="34" charset="-122"/>
                <a:cs typeface="Montserrat" pitchFamily="34" charset="-120"/>
              </a:rPr>
              <a:t>SEMANA 1</a:t>
            </a:r>
            <a:endParaRPr lang="en-US" sz="825" dirty="0"/>
          </a:p>
        </p:txBody>
      </p:sp>
      <p:sp>
        <p:nvSpPr>
          <p:cNvPr id="22" name="Text 19"/>
          <p:cNvSpPr/>
          <p:nvPr/>
        </p:nvSpPr>
        <p:spPr>
          <a:xfrm>
            <a:off x="9677426" y="5312093"/>
            <a:ext cx="3104980" cy="289560"/>
          </a:xfrm>
          <a:prstGeom prst="rect">
            <a:avLst/>
          </a:prstGeom>
          <a:noFill/>
          <a:ln/>
        </p:spPr>
        <p:txBody>
          <a:bodyPr wrap="square" lIns="25400" tIns="25400" rIns="25400" bIns="25400" rtlCol="0" anchor="t">
            <a:normAutofit/>
          </a:bodyPr>
          <a:lstStyle/>
          <a:p>
            <a:pPr algn="ctr" indent="0" marL="0">
              <a:lnSpc>
                <a:spcPct val="120000"/>
              </a:lnSpc>
              <a:buNone/>
            </a:pPr>
            <a:r>
              <a:rPr lang="en-US" sz="1650" spc="33" kern="0" dirty="0">
                <a:solidFill>
                  <a:srgbClr val="F4D773"/>
                </a:solidFill>
                <a:latin typeface="Cinzel" pitchFamily="34" charset="0"/>
                <a:ea typeface="Cinzel" pitchFamily="34" charset="-122"/>
                <a:cs typeface="Cinzel" pitchFamily="34" charset="-120"/>
              </a:rPr>
              <a:t>Onboarding documental</a:t>
            </a:r>
            <a:endParaRPr lang="en-US" sz="1650" dirty="0"/>
          </a:p>
        </p:txBody>
      </p:sp>
      <p:sp>
        <p:nvSpPr>
          <p:cNvPr id="23" name="Text 20"/>
          <p:cNvSpPr/>
          <p:nvPr/>
        </p:nvSpPr>
        <p:spPr>
          <a:xfrm>
            <a:off x="9953625" y="5696903"/>
            <a:ext cx="2552700" cy="409575"/>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Recogida histórica · accesos · firma de contrato y NDA.</a:t>
            </a:r>
            <a:endParaRPr lang="en-US" sz="975" dirty="0"/>
          </a:p>
        </p:txBody>
      </p:sp>
      <p:sp>
        <p:nvSpPr>
          <p:cNvPr id="24" name="Shape 21"/>
          <p:cNvSpPr/>
          <p:nvPr/>
        </p:nvSpPr>
        <p:spPr>
          <a:xfrm>
            <a:off x="15032356" y="4184333"/>
            <a:ext cx="739140" cy="739140"/>
          </a:xfrm>
          <a:prstGeom prst="ellipse">
            <a:avLst/>
          </a:prstGeom>
          <a:solidFill>
            <a:srgbClr val="0A0A0A"/>
          </a:solidFill>
          <a:ln w="7620">
            <a:solidFill>
              <a:srgbClr val="D4AF37"/>
            </a:solidFill>
            <a:prstDash val="solid"/>
          </a:ln>
        </p:spPr>
      </p:sp>
      <p:sp>
        <p:nvSpPr>
          <p:cNvPr id="25" name="Text 22"/>
          <p:cNvSpPr/>
          <p:nvPr/>
        </p:nvSpPr>
        <p:spPr>
          <a:xfrm>
            <a:off x="15001876" y="4191953"/>
            <a:ext cx="800100" cy="762000"/>
          </a:xfrm>
          <a:prstGeom prst="rect">
            <a:avLst/>
          </a:prstGeom>
          <a:noFill/>
          <a:ln/>
        </p:spPr>
        <p:txBody>
          <a:bodyPr wrap="square" lIns="25400" tIns="25400" rIns="25400" bIns="25400" rtlCol="0" anchor="ctr">
            <a:normAutofit/>
          </a:bodyPr>
          <a:lstStyle/>
          <a:p>
            <a:pPr algn="ctr" indent="0" marL="0">
              <a:buNone/>
            </a:pPr>
            <a:r>
              <a:rPr lang="en-US" sz="2400" b="1" dirty="0">
                <a:solidFill>
                  <a:srgbClr val="F4D773"/>
                </a:solidFill>
                <a:latin typeface="Cinzel" pitchFamily="34" charset="0"/>
                <a:ea typeface="Cinzel" pitchFamily="34" charset="-122"/>
                <a:cs typeface="Cinzel" pitchFamily="34" charset="-120"/>
              </a:rPr>
              <a:t>4</a:t>
            </a:r>
            <a:endParaRPr lang="en-US" sz="2400" dirty="0"/>
          </a:p>
        </p:txBody>
      </p:sp>
      <p:sp>
        <p:nvSpPr>
          <p:cNvPr id="26" name="Text 23"/>
          <p:cNvSpPr/>
          <p:nvPr/>
        </p:nvSpPr>
        <p:spPr>
          <a:xfrm>
            <a:off x="15137963" y="5056823"/>
            <a:ext cx="527923" cy="160020"/>
          </a:xfrm>
          <a:prstGeom prst="rect">
            <a:avLst/>
          </a:prstGeom>
          <a:noFill/>
          <a:ln/>
        </p:spPr>
        <p:txBody>
          <a:bodyPr wrap="square" lIns="25400" tIns="25400" rIns="25400" bIns="25400" rtlCol="0" anchor="t">
            <a:normAutofit/>
          </a:bodyPr>
          <a:lstStyle/>
          <a:p>
            <a:pPr algn="ctr" indent="0" marL="0">
              <a:buNone/>
            </a:pPr>
            <a:r>
              <a:rPr lang="en-US" sz="825" b="1" spc="231" kern="0" dirty="0">
                <a:solidFill>
                  <a:srgbClr val="8B5E1A"/>
                </a:solidFill>
                <a:latin typeface="Montserrat" pitchFamily="34" charset="0"/>
                <a:ea typeface="Montserrat" pitchFamily="34" charset="-122"/>
                <a:cs typeface="Montserrat" pitchFamily="34" charset="-120"/>
              </a:rPr>
              <a:t>MES 1</a:t>
            </a:r>
            <a:endParaRPr lang="en-US" sz="825" dirty="0"/>
          </a:p>
        </p:txBody>
      </p:sp>
      <p:sp>
        <p:nvSpPr>
          <p:cNvPr id="27" name="Text 24"/>
          <p:cNvSpPr/>
          <p:nvPr/>
        </p:nvSpPr>
        <p:spPr>
          <a:xfrm>
            <a:off x="14384417" y="5312093"/>
            <a:ext cx="2035016" cy="289560"/>
          </a:xfrm>
          <a:prstGeom prst="rect">
            <a:avLst/>
          </a:prstGeom>
          <a:noFill/>
          <a:ln/>
        </p:spPr>
        <p:txBody>
          <a:bodyPr wrap="square" lIns="25400" tIns="25400" rIns="25400" bIns="25400" rtlCol="0" anchor="t">
            <a:normAutofit/>
          </a:bodyPr>
          <a:lstStyle/>
          <a:p>
            <a:pPr algn="ctr" indent="0" marL="0">
              <a:lnSpc>
                <a:spcPct val="120000"/>
              </a:lnSpc>
              <a:buNone/>
            </a:pPr>
            <a:r>
              <a:rPr lang="en-US" sz="1650" spc="33" kern="0" dirty="0">
                <a:solidFill>
                  <a:srgbClr val="F4D773"/>
                </a:solidFill>
                <a:latin typeface="Cinzel" pitchFamily="34" charset="0"/>
                <a:ea typeface="Cinzel" pitchFamily="34" charset="-122"/>
                <a:cs typeface="Cinzel" pitchFamily="34" charset="-120"/>
              </a:rPr>
              <a:t>Primera entrega</a:t>
            </a:r>
            <a:endParaRPr lang="en-US" sz="1650" dirty="0"/>
          </a:p>
        </p:txBody>
      </p:sp>
      <p:sp>
        <p:nvSpPr>
          <p:cNvPr id="28" name="Text 25"/>
          <p:cNvSpPr/>
          <p:nvPr/>
        </p:nvSpPr>
        <p:spPr>
          <a:xfrm>
            <a:off x="14125575" y="5696903"/>
            <a:ext cx="2552700" cy="409575"/>
          </a:xfrm>
          <a:prstGeom prst="rect">
            <a:avLst/>
          </a:prstGeom>
          <a:noFill/>
          <a:ln/>
        </p:spPr>
        <p:txBody>
          <a:bodyPr wrap="square" lIns="25400" tIns="25400" rIns="25400" bIns="25400" rtlCol="0" anchor="t">
            <a:normAutofit/>
          </a:bodyPr>
          <a:lstStyle/>
          <a:p>
            <a:pPr algn="ctr" indent="0" marL="0">
              <a:lnSpc>
                <a:spcPct val="150000"/>
              </a:lnSpc>
              <a:buNone/>
            </a:pPr>
            <a:r>
              <a:rPr lang="en-US" sz="975" dirty="0">
                <a:solidFill>
                  <a:srgbClr val="9C9580"/>
                </a:solidFill>
                <a:latin typeface="Inter" pitchFamily="34" charset="0"/>
                <a:ea typeface="Inter" pitchFamily="34" charset="-122"/>
                <a:cs typeface="Inter" pitchFamily="34" charset="-120"/>
              </a:rPr>
              <a:t>Primer paquete mensual completo · presentación al cliente.</a:t>
            </a:r>
            <a:endParaRPr lang="en-US" sz="975" dirty="0"/>
          </a:p>
        </p:txBody>
      </p:sp>
      <p:sp>
        <p:nvSpPr>
          <p:cNvPr id="29" name="Text 26"/>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30" name="Text 27"/>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14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14 · COMPROMISO VERIFICABLE</a:t>
            </a:r>
            <a:endParaRPr lang="en-US" sz="1050" dirty="0"/>
          </a:p>
        </p:txBody>
      </p:sp>
      <p:sp>
        <p:nvSpPr>
          <p:cNvPr id="7" name="Text 4"/>
          <p:cNvSpPr/>
          <p:nvPr/>
        </p:nvSpPr>
        <p:spPr>
          <a:xfrm>
            <a:off x="914400" y="1798320"/>
            <a:ext cx="16952976" cy="878205"/>
          </a:xfrm>
          <a:prstGeom prst="rect">
            <a:avLst/>
          </a:prstGeom>
          <a:noFill/>
          <a:ln/>
        </p:spPr>
        <p:txBody>
          <a:bodyPr wrap="square" lIns="25400" tIns="25400" rIns="25400" bIns="25400" rtlCol="0" anchor="t">
            <a:normAutofit/>
          </a:bodyPr>
          <a:lstStyle/>
          <a:p>
            <a:pPr algn="l" indent="0" marL="0">
              <a:lnSpc>
                <a:spcPct val="105000"/>
              </a:lnSpc>
              <a:buNone/>
            </a:pPr>
            <a:r>
              <a:rPr lang="en-US" sz="6300" spc="126" kern="0" dirty="0">
                <a:solidFill>
                  <a:srgbClr val="F4D773"/>
                </a:solidFill>
                <a:latin typeface="Cinzel" pitchFamily="34" charset="0"/>
                <a:ea typeface="Cinzel" pitchFamily="34" charset="-122"/>
                <a:cs typeface="Cinzel" pitchFamily="34" charset="-120"/>
              </a:rPr>
              <a:t>Garantías &amp; cumplimiento.</a:t>
            </a:r>
            <a:endParaRPr lang="en-US" sz="6300" dirty="0"/>
          </a:p>
        </p:txBody>
      </p:sp>
      <p:sp>
        <p:nvSpPr>
          <p:cNvPr id="8" name="Shape 5"/>
          <p:cNvSpPr/>
          <p:nvPr/>
        </p:nvSpPr>
        <p:spPr>
          <a:xfrm>
            <a:off x="914400" y="3305175"/>
            <a:ext cx="8115300" cy="1583055"/>
          </a:xfrm>
          <a:prstGeom prst="rect">
            <a:avLst/>
          </a:prstGeom>
          <a:solidFill>
            <a:srgbClr val="D4AF37">
              <a:alpha val="4000"/>
            </a:srgbClr>
          </a:solidFill>
          <a:ln/>
        </p:spPr>
      </p:sp>
      <p:sp>
        <p:nvSpPr>
          <p:cNvPr id="9" name="Shape 6"/>
          <p:cNvSpPr/>
          <p:nvPr/>
        </p:nvSpPr>
        <p:spPr>
          <a:xfrm>
            <a:off x="914400" y="3305175"/>
            <a:ext cx="15240" cy="1583055"/>
          </a:xfrm>
          <a:prstGeom prst="rect">
            <a:avLst/>
          </a:prstGeom>
          <a:solidFill>
            <a:srgbClr val="D4AF37"/>
          </a:solidFill>
          <a:ln/>
        </p:spPr>
      </p:sp>
      <p:sp>
        <p:nvSpPr>
          <p:cNvPr id="10" name="Text 7"/>
          <p:cNvSpPr/>
          <p:nvPr/>
        </p:nvSpPr>
        <p:spPr>
          <a:xfrm>
            <a:off x="1272540" y="3609975"/>
            <a:ext cx="7636688"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CERTIFICACIÓN</a:t>
            </a:r>
            <a:endParaRPr lang="en-US" sz="825" dirty="0"/>
          </a:p>
        </p:txBody>
      </p:sp>
      <p:sp>
        <p:nvSpPr>
          <p:cNvPr id="11" name="Text 8"/>
          <p:cNvSpPr/>
          <p:nvPr/>
        </p:nvSpPr>
        <p:spPr>
          <a:xfrm>
            <a:off x="1272540" y="3789045"/>
            <a:ext cx="7636688" cy="34290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F4D773"/>
                </a:solidFill>
                <a:latin typeface="Cinzel" pitchFamily="34" charset="0"/>
                <a:ea typeface="Cinzel" pitchFamily="34" charset="-122"/>
                <a:cs typeface="Cinzel" pitchFamily="34" charset="-120"/>
              </a:rPr>
              <a:t>ICPARD vigente</a:t>
            </a:r>
            <a:endParaRPr lang="en-US" sz="1800" dirty="0"/>
          </a:p>
        </p:txBody>
      </p:sp>
      <p:sp>
        <p:nvSpPr>
          <p:cNvPr id="12" name="Text 9"/>
          <p:cNvSpPr/>
          <p:nvPr/>
        </p:nvSpPr>
        <p:spPr>
          <a:xfrm>
            <a:off x="1272540" y="4170045"/>
            <a:ext cx="7636688" cy="451485"/>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Todos los CPAs del equipo están colegiados y al día con el Instituto de Contadores Públicos Autorizados de la República Dominicana.</a:t>
            </a:r>
            <a:endParaRPr lang="en-US" sz="1050" dirty="0"/>
          </a:p>
        </p:txBody>
      </p:sp>
      <p:sp>
        <p:nvSpPr>
          <p:cNvPr id="13" name="Shape 10"/>
          <p:cNvSpPr/>
          <p:nvPr/>
        </p:nvSpPr>
        <p:spPr>
          <a:xfrm>
            <a:off x="9258300" y="3305175"/>
            <a:ext cx="8115300" cy="1583055"/>
          </a:xfrm>
          <a:prstGeom prst="rect">
            <a:avLst/>
          </a:prstGeom>
          <a:solidFill>
            <a:srgbClr val="D4AF37">
              <a:alpha val="4000"/>
            </a:srgbClr>
          </a:solidFill>
          <a:ln/>
        </p:spPr>
      </p:sp>
      <p:sp>
        <p:nvSpPr>
          <p:cNvPr id="14" name="Shape 11"/>
          <p:cNvSpPr/>
          <p:nvPr/>
        </p:nvSpPr>
        <p:spPr>
          <a:xfrm>
            <a:off x="9258300" y="3305175"/>
            <a:ext cx="15240" cy="1583055"/>
          </a:xfrm>
          <a:prstGeom prst="rect">
            <a:avLst/>
          </a:prstGeom>
          <a:solidFill>
            <a:srgbClr val="D4AF37"/>
          </a:solidFill>
          <a:ln/>
        </p:spPr>
      </p:sp>
      <p:sp>
        <p:nvSpPr>
          <p:cNvPr id="15" name="Text 12"/>
          <p:cNvSpPr/>
          <p:nvPr/>
        </p:nvSpPr>
        <p:spPr>
          <a:xfrm>
            <a:off x="9616440" y="3609975"/>
            <a:ext cx="7636688"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SEGURO</a:t>
            </a:r>
            <a:endParaRPr lang="en-US" sz="825" dirty="0"/>
          </a:p>
        </p:txBody>
      </p:sp>
      <p:sp>
        <p:nvSpPr>
          <p:cNvPr id="16" name="Text 13"/>
          <p:cNvSpPr/>
          <p:nvPr/>
        </p:nvSpPr>
        <p:spPr>
          <a:xfrm>
            <a:off x="9616440" y="3789045"/>
            <a:ext cx="7636688" cy="34290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F4D773"/>
                </a:solidFill>
                <a:latin typeface="Cinzel" pitchFamily="34" charset="0"/>
                <a:ea typeface="Cinzel" pitchFamily="34" charset="-122"/>
                <a:cs typeface="Cinzel" pitchFamily="34" charset="-120"/>
              </a:rPr>
              <a:t>Responsabilidad civil profesional</a:t>
            </a:r>
            <a:endParaRPr lang="en-US" sz="1800" dirty="0"/>
          </a:p>
        </p:txBody>
      </p:sp>
      <p:sp>
        <p:nvSpPr>
          <p:cNvPr id="17" name="Text 14"/>
          <p:cNvSpPr/>
          <p:nvPr/>
        </p:nvSpPr>
        <p:spPr>
          <a:xfrm>
            <a:off x="9616440" y="4170045"/>
            <a:ext cx="7636688"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Cobertura de seguro de RC profesional internacional · proteje al cliente ante errores u omisiones.</a:t>
            </a:r>
            <a:endParaRPr lang="en-US" sz="1050" dirty="0"/>
          </a:p>
        </p:txBody>
      </p:sp>
      <p:sp>
        <p:nvSpPr>
          <p:cNvPr id="18" name="Shape 15"/>
          <p:cNvSpPr/>
          <p:nvPr/>
        </p:nvSpPr>
        <p:spPr>
          <a:xfrm>
            <a:off x="914400" y="5116830"/>
            <a:ext cx="8115300" cy="1376363"/>
          </a:xfrm>
          <a:prstGeom prst="rect">
            <a:avLst/>
          </a:prstGeom>
          <a:solidFill>
            <a:srgbClr val="D4AF37">
              <a:alpha val="4000"/>
            </a:srgbClr>
          </a:solidFill>
          <a:ln/>
        </p:spPr>
      </p:sp>
      <p:sp>
        <p:nvSpPr>
          <p:cNvPr id="19" name="Shape 16"/>
          <p:cNvSpPr/>
          <p:nvPr/>
        </p:nvSpPr>
        <p:spPr>
          <a:xfrm>
            <a:off x="914400" y="5116830"/>
            <a:ext cx="15240" cy="1376363"/>
          </a:xfrm>
          <a:prstGeom prst="rect">
            <a:avLst/>
          </a:prstGeom>
          <a:solidFill>
            <a:srgbClr val="D4AF37"/>
          </a:solidFill>
          <a:ln/>
        </p:spPr>
      </p:sp>
      <p:sp>
        <p:nvSpPr>
          <p:cNvPr id="20" name="Text 17"/>
          <p:cNvSpPr/>
          <p:nvPr/>
        </p:nvSpPr>
        <p:spPr>
          <a:xfrm>
            <a:off x="1272540" y="5421630"/>
            <a:ext cx="7636688"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CONTROL INTERNO</a:t>
            </a:r>
            <a:endParaRPr lang="en-US" sz="825" dirty="0"/>
          </a:p>
        </p:txBody>
      </p:sp>
      <p:sp>
        <p:nvSpPr>
          <p:cNvPr id="21" name="Text 18"/>
          <p:cNvSpPr/>
          <p:nvPr/>
        </p:nvSpPr>
        <p:spPr>
          <a:xfrm>
            <a:off x="1272540" y="5600700"/>
            <a:ext cx="7636688" cy="34290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F4D773"/>
                </a:solidFill>
                <a:latin typeface="Cinzel" pitchFamily="34" charset="0"/>
                <a:ea typeface="Cinzel" pitchFamily="34" charset="-122"/>
                <a:cs typeface="Cinzel" pitchFamily="34" charset="-120"/>
              </a:rPr>
              <a:t>Auditoría interna trimestral</a:t>
            </a:r>
            <a:endParaRPr lang="en-US" sz="1800" dirty="0"/>
          </a:p>
        </p:txBody>
      </p:sp>
      <p:sp>
        <p:nvSpPr>
          <p:cNvPr id="22" name="Text 19"/>
          <p:cNvSpPr/>
          <p:nvPr/>
        </p:nvSpPr>
        <p:spPr>
          <a:xfrm>
            <a:off x="1272540" y="5981700"/>
            <a:ext cx="7636688"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Nuestros procesos son auditados internamente cada trimestre · evidencia documentada disponible.</a:t>
            </a:r>
            <a:endParaRPr lang="en-US" sz="1050" dirty="0"/>
          </a:p>
        </p:txBody>
      </p:sp>
      <p:sp>
        <p:nvSpPr>
          <p:cNvPr id="23" name="Shape 20"/>
          <p:cNvSpPr/>
          <p:nvPr/>
        </p:nvSpPr>
        <p:spPr>
          <a:xfrm>
            <a:off x="9258300" y="5116830"/>
            <a:ext cx="8115300" cy="1376363"/>
          </a:xfrm>
          <a:prstGeom prst="rect">
            <a:avLst/>
          </a:prstGeom>
          <a:solidFill>
            <a:srgbClr val="D4AF37">
              <a:alpha val="4000"/>
            </a:srgbClr>
          </a:solidFill>
          <a:ln/>
        </p:spPr>
      </p:sp>
      <p:sp>
        <p:nvSpPr>
          <p:cNvPr id="24" name="Shape 21"/>
          <p:cNvSpPr/>
          <p:nvPr/>
        </p:nvSpPr>
        <p:spPr>
          <a:xfrm>
            <a:off x="9258300" y="5116830"/>
            <a:ext cx="15240" cy="1376363"/>
          </a:xfrm>
          <a:prstGeom prst="rect">
            <a:avLst/>
          </a:prstGeom>
          <a:solidFill>
            <a:srgbClr val="D4AF37"/>
          </a:solidFill>
          <a:ln/>
        </p:spPr>
      </p:sp>
      <p:sp>
        <p:nvSpPr>
          <p:cNvPr id="25" name="Text 22"/>
          <p:cNvSpPr/>
          <p:nvPr/>
        </p:nvSpPr>
        <p:spPr>
          <a:xfrm>
            <a:off x="9616440" y="5421630"/>
            <a:ext cx="7636688" cy="160020"/>
          </a:xfrm>
          <a:prstGeom prst="rect">
            <a:avLst/>
          </a:prstGeom>
          <a:noFill/>
          <a:ln/>
        </p:spPr>
        <p:txBody>
          <a:bodyPr wrap="square" lIns="25400" tIns="25400" rIns="25400" bIns="25400" rtlCol="0" anchor="t">
            <a:normAutofit/>
          </a:bodyPr>
          <a:lstStyle/>
          <a:p>
            <a:pPr algn="l" indent="0" marL="0">
              <a:buNone/>
            </a:pPr>
            <a:r>
              <a:rPr lang="en-US" sz="825" b="1" spc="231" kern="0" dirty="0">
                <a:solidFill>
                  <a:srgbClr val="8B5E1A"/>
                </a:solidFill>
                <a:latin typeface="Montserrat" pitchFamily="34" charset="0"/>
                <a:ea typeface="Montserrat" pitchFamily="34" charset="-122"/>
                <a:cs typeface="Montserrat" pitchFamily="34" charset="-120"/>
              </a:rPr>
              <a:t>CONTINUIDAD</a:t>
            </a:r>
            <a:endParaRPr lang="en-US" sz="825" dirty="0"/>
          </a:p>
        </p:txBody>
      </p:sp>
      <p:sp>
        <p:nvSpPr>
          <p:cNvPr id="26" name="Text 23"/>
          <p:cNvSpPr/>
          <p:nvPr/>
        </p:nvSpPr>
        <p:spPr>
          <a:xfrm>
            <a:off x="9616440" y="5600700"/>
            <a:ext cx="7636688" cy="342900"/>
          </a:xfrm>
          <a:prstGeom prst="rect">
            <a:avLst/>
          </a:prstGeom>
          <a:noFill/>
          <a:ln/>
        </p:spPr>
        <p:txBody>
          <a:bodyPr wrap="square" lIns="25400" tIns="25400" rIns="25400" bIns="25400" rtlCol="0" anchor="t">
            <a:normAutofit/>
          </a:bodyPr>
          <a:lstStyle/>
          <a:p>
            <a:pPr algn="l" indent="0" marL="0">
              <a:buNone/>
            </a:pPr>
            <a:r>
              <a:rPr lang="en-US" sz="1800" spc="36" kern="0" dirty="0">
                <a:solidFill>
                  <a:srgbClr val="F4D773"/>
                </a:solidFill>
                <a:latin typeface="Cinzel" pitchFamily="34" charset="0"/>
                <a:ea typeface="Cinzel" pitchFamily="34" charset="-122"/>
                <a:cs typeface="Cinzel" pitchFamily="34" charset="-120"/>
              </a:rPr>
              <a:t>Backup 30 días · servidores RD/US</a:t>
            </a:r>
            <a:endParaRPr lang="en-US" sz="1800" dirty="0"/>
          </a:p>
        </p:txBody>
      </p:sp>
      <p:sp>
        <p:nvSpPr>
          <p:cNvPr id="27" name="Text 24"/>
          <p:cNvSpPr/>
          <p:nvPr/>
        </p:nvSpPr>
        <p:spPr>
          <a:xfrm>
            <a:off x="9616440" y="5981700"/>
            <a:ext cx="7636688" cy="244793"/>
          </a:xfrm>
          <a:prstGeom prst="rect">
            <a:avLst/>
          </a:prstGeom>
          <a:noFill/>
          <a:ln/>
        </p:spPr>
        <p:txBody>
          <a:bodyPr wrap="square" lIns="25400" tIns="25400" rIns="25400" bIns="25400" rtlCol="0" anchor="t">
            <a:normAutofit/>
          </a:bodyPr>
          <a:lstStyle/>
          <a:p>
            <a:pPr algn="l" indent="0" marL="0">
              <a:lnSpc>
                <a:spcPct val="155000"/>
              </a:lnSpc>
              <a:buNone/>
            </a:pPr>
            <a:r>
              <a:rPr lang="en-US" sz="1050" dirty="0">
                <a:solidFill>
                  <a:srgbClr val="BCB29A"/>
                </a:solidFill>
                <a:latin typeface="Inter" pitchFamily="34" charset="0"/>
                <a:ea typeface="Inter" pitchFamily="34" charset="-122"/>
                <a:cs typeface="Inter" pitchFamily="34" charset="-120"/>
              </a:rPr>
              <a:t>Replicación diaria de datos contables · plan de continuidad operativa para clientes corporativos.</a:t>
            </a:r>
            <a:endParaRPr lang="en-US" sz="1050" dirty="0"/>
          </a:p>
        </p:txBody>
      </p:sp>
      <p:sp>
        <p:nvSpPr>
          <p:cNvPr id="28" name="Text 25"/>
          <p:cNvSpPr/>
          <p:nvPr/>
        </p:nvSpPr>
        <p:spPr>
          <a:xfrm>
            <a:off x="609600" y="9822181"/>
            <a:ext cx="2988968"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HUYGHU &amp; ASOCIADOS · CONTADORES PÚBLICOS</a:t>
            </a:r>
            <a:endParaRPr lang="en-US" sz="825" dirty="0"/>
          </a:p>
        </p:txBody>
      </p:sp>
      <p:sp>
        <p:nvSpPr>
          <p:cNvPr id="29" name="Text 26"/>
          <p:cNvSpPr/>
          <p:nvPr/>
        </p:nvSpPr>
        <p:spPr>
          <a:xfrm>
            <a:off x="16261081" y="9822181"/>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9600" y="457200"/>
            <a:ext cx="342900" cy="342900"/>
          </a:xfrm>
          <a:prstGeom prst="rect">
            <a:avLst/>
          </a:prstGeom>
        </p:spPr>
      </p:pic>
      <p:sp>
        <p:nvSpPr>
          <p:cNvPr id="3" name="Text 0"/>
          <p:cNvSpPr/>
          <p:nvPr/>
        </p:nvSpPr>
        <p:spPr>
          <a:xfrm>
            <a:off x="1085850" y="478155"/>
            <a:ext cx="2091333" cy="220980"/>
          </a:xfrm>
          <a:prstGeom prst="rect">
            <a:avLst/>
          </a:prstGeom>
          <a:noFill/>
          <a:ln/>
        </p:spPr>
        <p:txBody>
          <a:bodyPr wrap="square" lIns="0" tIns="0" rIns="0" bIns="0" rtlCol="0" anchor="t">
            <a:normAutofit/>
          </a:bodyPr>
          <a:lstStyle/>
          <a:p>
            <a:pPr algn="l" indent="0" marL="0">
              <a:buNone/>
            </a:pPr>
            <a:r>
              <a:rPr lang="en-US" sz="1050" b="1" spc="168" kern="0" dirty="0">
                <a:solidFill>
                  <a:srgbClr val="F4D773"/>
                </a:solidFill>
                <a:latin typeface="Cinzel" pitchFamily="34" charset="0"/>
                <a:ea typeface="Cinzel" pitchFamily="34" charset="-122"/>
                <a:cs typeface="Cinzel" pitchFamily="34" charset="-120"/>
              </a:rPr>
              <a:t>HUYGHU &amp; ASOCIADOS</a:t>
            </a:r>
            <a:endParaRPr lang="en-US" sz="1050" dirty="0"/>
          </a:p>
        </p:txBody>
      </p:sp>
      <p:sp>
        <p:nvSpPr>
          <p:cNvPr id="4" name="Text 1"/>
          <p:cNvSpPr/>
          <p:nvPr/>
        </p:nvSpPr>
        <p:spPr>
          <a:xfrm>
            <a:off x="1085850" y="680085"/>
            <a:ext cx="2091333" cy="137160"/>
          </a:xfrm>
          <a:prstGeom prst="rect">
            <a:avLst/>
          </a:prstGeom>
          <a:noFill/>
          <a:ln/>
        </p:spPr>
        <p:txBody>
          <a:bodyPr wrap="square" lIns="25400" tIns="25400" rIns="25400" bIns="25400" rtlCol="0" anchor="t">
            <a:normAutofit/>
          </a:bodyPr>
          <a:lstStyle/>
          <a:p>
            <a:pPr algn="l" indent="0" marL="0">
              <a:buNone/>
            </a:pPr>
            <a:r>
              <a:rPr lang="en-US" sz="638" spc="204" kern="0" dirty="0">
                <a:solidFill>
                  <a:srgbClr val="8B5E1A"/>
                </a:solidFill>
                <a:latin typeface="Montserrat" pitchFamily="34" charset="0"/>
                <a:ea typeface="Montserrat" pitchFamily="34" charset="-122"/>
                <a:cs typeface="Montserrat" pitchFamily="34" charset="-120"/>
              </a:rPr>
              <a:t>CONTADORES PÚBLICOS</a:t>
            </a:r>
            <a:endParaRPr lang="en-US" sz="638" dirty="0"/>
          </a:p>
        </p:txBody>
      </p:sp>
      <p:sp>
        <p:nvSpPr>
          <p:cNvPr id="5" name="Text 2"/>
          <p:cNvSpPr/>
          <p:nvPr/>
        </p:nvSpPr>
        <p:spPr>
          <a:xfrm>
            <a:off x="17045821" y="556260"/>
            <a:ext cx="708779" cy="182880"/>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F4D773"/>
                </a:solidFill>
                <a:latin typeface="Courier New" pitchFamily="34" charset="0"/>
                <a:ea typeface="Courier New" pitchFamily="34" charset="-122"/>
                <a:cs typeface="Courier New" pitchFamily="34" charset="-120"/>
              </a:rPr>
              <a:t>15 </a:t>
            </a:r>
            <a:pPr algn="l" indent="0" marL="0">
              <a:buNone/>
            </a:pPr>
            <a:r>
              <a:rPr lang="en-US" sz="975" spc="176" kern="0" dirty="0">
                <a:solidFill>
                  <a:srgbClr val="8B5E1A"/>
                </a:solidFill>
                <a:latin typeface="Courier New" pitchFamily="34" charset="0"/>
                <a:ea typeface="Courier New" pitchFamily="34" charset="-122"/>
                <a:cs typeface="Courier New" pitchFamily="34" charset="-120"/>
              </a:rPr>
              <a:t>/ 15</a:t>
            </a:r>
            <a:endParaRPr lang="en-US" sz="975" dirty="0"/>
          </a:p>
        </p:txBody>
      </p:sp>
      <p:sp>
        <p:nvSpPr>
          <p:cNvPr id="6" name="Text 3"/>
          <p:cNvSpPr/>
          <p:nvPr/>
        </p:nvSpPr>
        <p:spPr>
          <a:xfrm>
            <a:off x="914400" y="1409700"/>
            <a:ext cx="16952976" cy="198120"/>
          </a:xfrm>
          <a:prstGeom prst="rect">
            <a:avLst/>
          </a:prstGeom>
          <a:noFill/>
          <a:ln/>
        </p:spPr>
        <p:txBody>
          <a:bodyPr wrap="square" lIns="25400" tIns="25400" rIns="25400" bIns="25400" rtlCol="0" anchor="t">
            <a:normAutofit/>
          </a:bodyPr>
          <a:lstStyle/>
          <a:p>
            <a:pPr algn="l" indent="0" marL="0">
              <a:buNone/>
            </a:pPr>
            <a:r>
              <a:rPr lang="en-US" sz="1050" b="1" spc="420" kern="0" dirty="0">
                <a:solidFill>
                  <a:srgbClr val="8B5E1A"/>
                </a:solidFill>
                <a:latin typeface="Montserrat" pitchFamily="34" charset="0"/>
                <a:ea typeface="Montserrat" pitchFamily="34" charset="-122"/>
                <a:cs typeface="Montserrat" pitchFamily="34" charset="-120"/>
              </a:rPr>
              <a:t>§ 15 · PRÓXIMO PASO</a:t>
            </a:r>
            <a:endParaRPr lang="en-US" sz="1050" dirty="0"/>
          </a:p>
        </p:txBody>
      </p:sp>
      <p:sp>
        <p:nvSpPr>
          <p:cNvPr id="7" name="Text 4"/>
          <p:cNvSpPr/>
          <p:nvPr/>
        </p:nvSpPr>
        <p:spPr>
          <a:xfrm>
            <a:off x="914400" y="3614261"/>
            <a:ext cx="9522927" cy="1286828"/>
          </a:xfrm>
          <a:prstGeom prst="rect">
            <a:avLst/>
          </a:prstGeom>
          <a:noFill/>
          <a:ln/>
        </p:spPr>
        <p:txBody>
          <a:bodyPr wrap="square" lIns="25400" tIns="25400" rIns="25400" bIns="25400" rtlCol="0" anchor="t">
            <a:normAutofit/>
          </a:bodyPr>
          <a:lstStyle/>
          <a:p>
            <a:pPr algn="l" indent="0" marL="0">
              <a:lnSpc>
                <a:spcPct val="95000"/>
              </a:lnSpc>
              <a:buNone/>
            </a:pPr>
            <a:r>
              <a:rPr lang="en-US" sz="10350" spc="207" kern="0" dirty="0">
                <a:solidFill>
                  <a:srgbClr val="F4D773"/>
                </a:solidFill>
                <a:latin typeface="Cinzel" pitchFamily="34" charset="0"/>
                <a:ea typeface="Cinzel" pitchFamily="34" charset="-122"/>
                <a:cs typeface="Cinzel" pitchFamily="34" charset="-120"/>
              </a:rPr>
              <a:t>¿Hablamos?</a:t>
            </a:r>
            <a:endParaRPr lang="en-US" sz="10350" dirty="0"/>
          </a:p>
        </p:txBody>
      </p:sp>
      <p:sp>
        <p:nvSpPr>
          <p:cNvPr id="8" name="Text 5"/>
          <p:cNvSpPr/>
          <p:nvPr/>
        </p:nvSpPr>
        <p:spPr>
          <a:xfrm>
            <a:off x="914400" y="5091589"/>
            <a:ext cx="9522927" cy="426720"/>
          </a:xfrm>
          <a:prstGeom prst="rect">
            <a:avLst/>
          </a:prstGeom>
          <a:noFill/>
          <a:ln/>
        </p:spPr>
        <p:txBody>
          <a:bodyPr wrap="square" lIns="25400" tIns="25400" rIns="25400" bIns="25400" rtlCol="0" anchor="t">
            <a:normAutofit/>
          </a:bodyPr>
          <a:lstStyle/>
          <a:p>
            <a:pPr algn="l" indent="0" marL="0">
              <a:buNone/>
            </a:pPr>
            <a:r>
              <a:rPr lang="en-US" sz="2250" i="1" dirty="0">
                <a:solidFill>
                  <a:srgbClr val="D4AF37"/>
                </a:solidFill>
                <a:latin typeface="Cinzel" pitchFamily="34" charset="0"/>
                <a:ea typeface="Cinzel" pitchFamily="34" charset="-122"/>
                <a:cs typeface="Cinzel" pitchFamily="34" charset="-120"/>
              </a:rPr>
              <a:t>"Agenda tu diagnóstico inicial sin compromiso."</a:t>
            </a:r>
            <a:endParaRPr lang="en-US" sz="2250" dirty="0"/>
          </a:p>
        </p:txBody>
      </p:sp>
      <p:sp>
        <p:nvSpPr>
          <p:cNvPr id="9" name="Text 6"/>
          <p:cNvSpPr/>
          <p:nvPr/>
        </p:nvSpPr>
        <p:spPr>
          <a:xfrm>
            <a:off x="914400" y="5990749"/>
            <a:ext cx="1219200" cy="160020"/>
          </a:xfrm>
          <a:prstGeom prst="rect">
            <a:avLst/>
          </a:prstGeom>
          <a:noFill/>
          <a:ln/>
        </p:spPr>
        <p:txBody>
          <a:bodyPr wrap="square" lIns="25400" tIns="25400" rIns="25400" bIns="25400" rtlCol="0" anchor="t">
            <a:normAutofit/>
          </a:bodyPr>
          <a:lstStyle/>
          <a:p>
            <a:pPr algn="l" indent="0" marL="0">
              <a:buNone/>
            </a:pPr>
            <a:r>
              <a:rPr lang="en-US" sz="825" spc="198" kern="0" dirty="0">
                <a:solidFill>
                  <a:srgbClr val="8B5E1A"/>
                </a:solidFill>
                <a:latin typeface="Courier New" pitchFamily="34" charset="0"/>
                <a:ea typeface="Courier New" pitchFamily="34" charset="-122"/>
                <a:cs typeface="Courier New" pitchFamily="34" charset="-120"/>
              </a:rPr>
              <a:t>EMAIL</a:t>
            </a:r>
            <a:endParaRPr lang="en-US" sz="825" dirty="0"/>
          </a:p>
        </p:txBody>
      </p:sp>
      <p:sp>
        <p:nvSpPr>
          <p:cNvPr id="10" name="Text 7"/>
          <p:cNvSpPr/>
          <p:nvPr/>
        </p:nvSpPr>
        <p:spPr>
          <a:xfrm>
            <a:off x="2228850" y="5937409"/>
            <a:ext cx="1713667" cy="266700"/>
          </a:xfrm>
          <a:prstGeom prst="rect">
            <a:avLst/>
          </a:prstGeom>
          <a:noFill/>
          <a:ln/>
        </p:spPr>
        <p:txBody>
          <a:bodyPr wrap="square" lIns="25400" tIns="25400" rIns="25400" bIns="25400" rtlCol="0" anchor="t">
            <a:normAutofit/>
          </a:bodyPr>
          <a:lstStyle/>
          <a:p>
            <a:pPr algn="l" indent="0" marL="0">
              <a:buNone/>
            </a:pPr>
            <a:r>
              <a:rPr lang="en-US" sz="1500" dirty="0">
                <a:solidFill>
                  <a:srgbClr val="F4D773"/>
                </a:solidFill>
                <a:latin typeface="Inter" pitchFamily="34" charset="0"/>
                <a:ea typeface="Inter" pitchFamily="34" charset="-122"/>
                <a:cs typeface="Inter" pitchFamily="34" charset="-120"/>
              </a:rPr>
              <a:t>info@huyghu.com</a:t>
            </a:r>
            <a:endParaRPr lang="en-US" sz="1500" dirty="0"/>
          </a:p>
        </p:txBody>
      </p:sp>
      <p:sp>
        <p:nvSpPr>
          <p:cNvPr id="11" name="Text 8"/>
          <p:cNvSpPr/>
          <p:nvPr/>
        </p:nvSpPr>
        <p:spPr>
          <a:xfrm>
            <a:off x="914400" y="6390799"/>
            <a:ext cx="1219200" cy="160020"/>
          </a:xfrm>
          <a:prstGeom prst="rect">
            <a:avLst/>
          </a:prstGeom>
          <a:noFill/>
          <a:ln/>
        </p:spPr>
        <p:txBody>
          <a:bodyPr wrap="square" lIns="25400" tIns="25400" rIns="25400" bIns="25400" rtlCol="0" anchor="t">
            <a:normAutofit/>
          </a:bodyPr>
          <a:lstStyle/>
          <a:p>
            <a:pPr algn="l" indent="0" marL="0">
              <a:buNone/>
            </a:pPr>
            <a:r>
              <a:rPr lang="en-US" sz="825" spc="198" kern="0" dirty="0">
                <a:solidFill>
                  <a:srgbClr val="8B5E1A"/>
                </a:solidFill>
                <a:latin typeface="Courier New" pitchFamily="34" charset="0"/>
                <a:ea typeface="Courier New" pitchFamily="34" charset="-122"/>
                <a:cs typeface="Courier New" pitchFamily="34" charset="-120"/>
              </a:rPr>
              <a:t>TELÉFONO</a:t>
            </a:r>
            <a:endParaRPr lang="en-US" sz="825" dirty="0"/>
          </a:p>
        </p:txBody>
      </p:sp>
      <p:sp>
        <p:nvSpPr>
          <p:cNvPr id="12" name="Text 9"/>
          <p:cNvSpPr/>
          <p:nvPr/>
        </p:nvSpPr>
        <p:spPr>
          <a:xfrm>
            <a:off x="2228850" y="6337459"/>
            <a:ext cx="1893808" cy="266700"/>
          </a:xfrm>
          <a:prstGeom prst="rect">
            <a:avLst/>
          </a:prstGeom>
          <a:noFill/>
          <a:ln/>
        </p:spPr>
        <p:txBody>
          <a:bodyPr wrap="square" lIns="25400" tIns="25400" rIns="25400" bIns="25400" rtlCol="0" anchor="t">
            <a:normAutofit/>
          </a:bodyPr>
          <a:lstStyle/>
          <a:p>
            <a:pPr algn="l" indent="0" marL="0">
              <a:buNone/>
            </a:pPr>
            <a:r>
              <a:rPr lang="en-US" sz="1500" dirty="0">
                <a:solidFill>
                  <a:srgbClr val="F4D773"/>
                </a:solidFill>
                <a:latin typeface="Inter" pitchFamily="34" charset="0"/>
                <a:ea typeface="Inter" pitchFamily="34" charset="-122"/>
                <a:cs typeface="Inter" pitchFamily="34" charset="-120"/>
              </a:rPr>
              <a:t>[+1 809-XXX-XXXX]</a:t>
            </a:r>
            <a:endParaRPr lang="en-US" sz="1500" dirty="0"/>
          </a:p>
        </p:txBody>
      </p:sp>
      <p:sp>
        <p:nvSpPr>
          <p:cNvPr id="13" name="Text 10"/>
          <p:cNvSpPr/>
          <p:nvPr/>
        </p:nvSpPr>
        <p:spPr>
          <a:xfrm>
            <a:off x="914400" y="6790849"/>
            <a:ext cx="1219200" cy="160020"/>
          </a:xfrm>
          <a:prstGeom prst="rect">
            <a:avLst/>
          </a:prstGeom>
          <a:noFill/>
          <a:ln/>
        </p:spPr>
        <p:txBody>
          <a:bodyPr wrap="square" lIns="25400" tIns="25400" rIns="25400" bIns="25400" rtlCol="0" anchor="t">
            <a:normAutofit/>
          </a:bodyPr>
          <a:lstStyle/>
          <a:p>
            <a:pPr algn="l" indent="0" marL="0">
              <a:buNone/>
            </a:pPr>
            <a:r>
              <a:rPr lang="en-US" sz="825" spc="198" kern="0" dirty="0">
                <a:solidFill>
                  <a:srgbClr val="8B5E1A"/>
                </a:solidFill>
                <a:latin typeface="Courier New" pitchFamily="34" charset="0"/>
                <a:ea typeface="Courier New" pitchFamily="34" charset="-122"/>
                <a:cs typeface="Courier New" pitchFamily="34" charset="-120"/>
              </a:rPr>
              <a:t>WEB</a:t>
            </a:r>
            <a:endParaRPr lang="en-US" sz="825" dirty="0"/>
          </a:p>
        </p:txBody>
      </p:sp>
      <p:sp>
        <p:nvSpPr>
          <p:cNvPr id="14" name="Text 11"/>
          <p:cNvSpPr/>
          <p:nvPr/>
        </p:nvSpPr>
        <p:spPr>
          <a:xfrm>
            <a:off x="2228850" y="6737509"/>
            <a:ext cx="1700332" cy="266700"/>
          </a:xfrm>
          <a:prstGeom prst="rect">
            <a:avLst/>
          </a:prstGeom>
          <a:noFill/>
          <a:ln/>
        </p:spPr>
        <p:txBody>
          <a:bodyPr wrap="square" lIns="25400" tIns="25400" rIns="25400" bIns="25400" rtlCol="0" anchor="t">
            <a:normAutofit/>
          </a:bodyPr>
          <a:lstStyle/>
          <a:p>
            <a:pPr algn="l" indent="0" marL="0">
              <a:buNone/>
            </a:pPr>
            <a:r>
              <a:rPr lang="en-US" sz="1500" dirty="0">
                <a:solidFill>
                  <a:srgbClr val="F4D773"/>
                </a:solidFill>
                <a:latin typeface="Inter" pitchFamily="34" charset="0"/>
                <a:ea typeface="Inter" pitchFamily="34" charset="-122"/>
                <a:cs typeface="Inter" pitchFamily="34" charset="-120"/>
              </a:rPr>
              <a:t>www.huyghu.com</a:t>
            </a:r>
            <a:endParaRPr lang="en-US" sz="1500" dirty="0"/>
          </a:p>
        </p:txBody>
      </p:sp>
      <p:sp>
        <p:nvSpPr>
          <p:cNvPr id="15" name="Text 12"/>
          <p:cNvSpPr/>
          <p:nvPr/>
        </p:nvSpPr>
        <p:spPr>
          <a:xfrm>
            <a:off x="914400" y="7190899"/>
            <a:ext cx="1219200" cy="160020"/>
          </a:xfrm>
          <a:prstGeom prst="rect">
            <a:avLst/>
          </a:prstGeom>
          <a:noFill/>
          <a:ln/>
        </p:spPr>
        <p:txBody>
          <a:bodyPr wrap="square" lIns="25400" tIns="25400" rIns="25400" bIns="25400" rtlCol="0" anchor="t">
            <a:normAutofit/>
          </a:bodyPr>
          <a:lstStyle/>
          <a:p>
            <a:pPr algn="l" indent="0" marL="0">
              <a:buNone/>
            </a:pPr>
            <a:r>
              <a:rPr lang="en-US" sz="825" spc="198" kern="0" dirty="0">
                <a:solidFill>
                  <a:srgbClr val="8B5E1A"/>
                </a:solidFill>
                <a:latin typeface="Courier New" pitchFamily="34" charset="0"/>
                <a:ea typeface="Courier New" pitchFamily="34" charset="-122"/>
                <a:cs typeface="Courier New" pitchFamily="34" charset="-120"/>
              </a:rPr>
              <a:t>DIRECCIÓN</a:t>
            </a:r>
            <a:endParaRPr lang="en-US" sz="825" dirty="0"/>
          </a:p>
        </p:txBody>
      </p:sp>
      <p:sp>
        <p:nvSpPr>
          <p:cNvPr id="16" name="Text 13"/>
          <p:cNvSpPr/>
          <p:nvPr/>
        </p:nvSpPr>
        <p:spPr>
          <a:xfrm>
            <a:off x="2228850" y="7137559"/>
            <a:ext cx="6366932" cy="266700"/>
          </a:xfrm>
          <a:prstGeom prst="rect">
            <a:avLst/>
          </a:prstGeom>
          <a:noFill/>
          <a:ln/>
        </p:spPr>
        <p:txBody>
          <a:bodyPr wrap="square" lIns="25400" tIns="25400" rIns="25400" bIns="25400" rtlCol="0" anchor="t">
            <a:normAutofit/>
          </a:bodyPr>
          <a:lstStyle/>
          <a:p>
            <a:pPr algn="l" indent="0" marL="0">
              <a:buNone/>
            </a:pPr>
            <a:r>
              <a:rPr lang="en-US" sz="1500" dirty="0">
                <a:solidFill>
                  <a:srgbClr val="E7DDB8"/>
                </a:solidFill>
                <a:latin typeface="Inter" pitchFamily="34" charset="0"/>
                <a:ea typeface="Inter" pitchFamily="34" charset="-122"/>
                <a:cs typeface="Inter" pitchFamily="34" charset="-120"/>
              </a:rPr>
              <a:t>Torre Acrópolis · P 14 · Av. Winston Churchill 93 · Santo Domingo, RD</a:t>
            </a:r>
            <a:endParaRPr lang="en-US" sz="1500" dirty="0"/>
          </a:p>
        </p:txBody>
      </p:sp>
      <p:sp>
        <p:nvSpPr>
          <p:cNvPr id="17" name="Shape 14"/>
          <p:cNvSpPr/>
          <p:nvPr/>
        </p:nvSpPr>
        <p:spPr>
          <a:xfrm>
            <a:off x="10769560" y="2958465"/>
            <a:ext cx="6603921" cy="5063490"/>
          </a:xfrm>
          <a:prstGeom prst="rect">
            <a:avLst/>
          </a:prstGeom>
          <a:ln w="7620">
            <a:solidFill>
              <a:srgbClr val="D4AF37">
                <a:alpha val="30000"/>
              </a:srgbClr>
            </a:solidFill>
            <a:prstDash val="solid"/>
          </a:ln>
        </p:spPr>
      </p:sp>
      <p:sp>
        <p:nvSpPr>
          <p:cNvPr id="18" name="Shape 15"/>
          <p:cNvSpPr/>
          <p:nvPr/>
        </p:nvSpPr>
        <p:spPr>
          <a:xfrm>
            <a:off x="12280821" y="3423285"/>
            <a:ext cx="3581400" cy="3581400"/>
          </a:xfrm>
          <a:prstGeom prst="rect">
            <a:avLst/>
          </a:prstGeom>
          <a:solidFill>
            <a:srgbClr val="F2EDDE"/>
          </a:solidFill>
          <a:ln/>
        </p:spPr>
      </p:sp>
      <p:pic>
        <p:nvPicPr>
          <p:cNvPr id="19" name="Image 1" descr="preencoded.png">    </p:cNvPr>
          <p:cNvPicPr>
            <a:picLocks noChangeAspect="1"/>
          </p:cNvPicPr>
          <p:nvPr/>
        </p:nvPicPr>
        <p:blipFill>
          <a:blip r:embed="rId2"/>
          <a:stretch>
            <a:fillRect/>
          </a:stretch>
        </p:blipFill>
        <p:spPr>
          <a:xfrm>
            <a:off x="12452271" y="3594735"/>
            <a:ext cx="3238500" cy="3238500"/>
          </a:xfrm>
          <a:prstGeom prst="rect">
            <a:avLst/>
          </a:prstGeom>
        </p:spPr>
      </p:pic>
      <p:sp>
        <p:nvSpPr>
          <p:cNvPr id="20" name="Text 16"/>
          <p:cNvSpPr/>
          <p:nvPr/>
        </p:nvSpPr>
        <p:spPr>
          <a:xfrm>
            <a:off x="13192363" y="7233285"/>
            <a:ext cx="1834515" cy="182880"/>
          </a:xfrm>
          <a:prstGeom prst="rect">
            <a:avLst/>
          </a:prstGeom>
          <a:noFill/>
          <a:ln/>
        </p:spPr>
        <p:txBody>
          <a:bodyPr wrap="square" lIns="0" tIns="0" rIns="0" bIns="0" rtlCol="0" anchor="t">
            <a:normAutofit/>
          </a:bodyPr>
          <a:lstStyle/>
          <a:p>
            <a:pPr algn="ctr" indent="0" marL="0">
              <a:buNone/>
            </a:pPr>
            <a:r>
              <a:rPr lang="en-US" sz="900" spc="288" kern="0" dirty="0">
                <a:solidFill>
                  <a:srgbClr val="D4AF37"/>
                </a:solidFill>
                <a:latin typeface="Montserrat" pitchFamily="34" charset="0"/>
                <a:ea typeface="Montserrat" pitchFamily="34" charset="-122"/>
                <a:cs typeface="Montserrat" pitchFamily="34" charset="-120"/>
              </a:rPr>
              <a:t>ESCANEA · AGENDA</a:t>
            </a:r>
            <a:endParaRPr lang="en-US" sz="900" dirty="0"/>
          </a:p>
        </p:txBody>
      </p:sp>
      <p:sp>
        <p:nvSpPr>
          <p:cNvPr id="21" name="Text 17"/>
          <p:cNvSpPr/>
          <p:nvPr/>
        </p:nvSpPr>
        <p:spPr>
          <a:xfrm>
            <a:off x="13152716" y="7435215"/>
            <a:ext cx="1837611" cy="160020"/>
          </a:xfrm>
          <a:prstGeom prst="rect">
            <a:avLst/>
          </a:prstGeom>
          <a:noFill/>
          <a:ln/>
        </p:spPr>
        <p:txBody>
          <a:bodyPr wrap="square" lIns="25400" tIns="25400" rIns="25400" bIns="25400" rtlCol="0" anchor="t">
            <a:normAutofit/>
          </a:bodyPr>
          <a:lstStyle/>
          <a:p>
            <a:pPr algn="ctr" indent="0" marL="0">
              <a:buNone/>
            </a:pPr>
            <a:r>
              <a:rPr lang="en-US" sz="825" spc="66" kern="0" dirty="0">
                <a:solidFill>
                  <a:srgbClr val="6B6759"/>
                </a:solidFill>
                <a:latin typeface="Inter" pitchFamily="34" charset="0"/>
                <a:ea typeface="Inter" pitchFamily="34" charset="-122"/>
                <a:cs typeface="Inter" pitchFamily="34" charset="-120"/>
              </a:rPr>
              <a:t>Calendly: huyghu.com/agenda</a:t>
            </a:r>
            <a:endParaRPr lang="en-US" sz="825" dirty="0"/>
          </a:p>
        </p:txBody>
      </p:sp>
      <p:sp>
        <p:nvSpPr>
          <p:cNvPr id="22" name="Text 18"/>
          <p:cNvSpPr/>
          <p:nvPr/>
        </p:nvSpPr>
        <p:spPr>
          <a:xfrm>
            <a:off x="609600" y="9776460"/>
            <a:ext cx="5075224" cy="205740"/>
          </a:xfrm>
          <a:prstGeom prst="rect">
            <a:avLst/>
          </a:prstGeom>
          <a:noFill/>
          <a:ln/>
        </p:spPr>
        <p:txBody>
          <a:bodyPr wrap="square" lIns="25400" tIns="25400" rIns="25400" bIns="25400" rtlCol="0" anchor="t">
            <a:normAutofit/>
          </a:bodyPr>
          <a:lstStyle/>
          <a:p>
            <a:pPr algn="l" indent="0" marL="0">
              <a:buNone/>
            </a:pPr>
            <a:r>
              <a:rPr lang="en-US" sz="975" b="1" spc="293" kern="0" dirty="0">
                <a:solidFill>
                  <a:srgbClr val="D4AF37"/>
                </a:solidFill>
                <a:latin typeface="Cinzel" pitchFamily="34" charset="0"/>
                <a:ea typeface="Cinzel" pitchFamily="34" charset="-122"/>
                <a:cs typeface="Cinzel" pitchFamily="34" charset="-120"/>
              </a:rPr>
              <a:t>HUYGHU &amp; ASOCIADOS · MIEMBRO GRUPO CHRYTSA</a:t>
            </a:r>
            <a:endParaRPr lang="en-US" sz="975" dirty="0"/>
          </a:p>
        </p:txBody>
      </p:sp>
      <p:sp>
        <p:nvSpPr>
          <p:cNvPr id="23" name="Text 19"/>
          <p:cNvSpPr/>
          <p:nvPr/>
        </p:nvSpPr>
        <p:spPr>
          <a:xfrm>
            <a:off x="16261081" y="9799320"/>
            <a:ext cx="1493520" cy="160020"/>
          </a:xfrm>
          <a:prstGeom prst="rect">
            <a:avLst/>
          </a:prstGeom>
          <a:noFill/>
          <a:ln/>
        </p:spPr>
        <p:txBody>
          <a:bodyPr wrap="square" lIns="25400" tIns="25400" rIns="25400" bIns="25400" rtlCol="0" anchor="t">
            <a:normAutofit/>
          </a:bodyPr>
          <a:lstStyle/>
          <a:p>
            <a:pPr algn="l" indent="0" marL="0">
              <a:buNone/>
            </a:pPr>
            <a:r>
              <a:rPr lang="en-US" sz="825" spc="66" kern="0" dirty="0">
                <a:solidFill>
                  <a:srgbClr val="6B6759"/>
                </a:solidFill>
                <a:latin typeface="Inter" pitchFamily="34" charset="0"/>
                <a:ea typeface="Inter" pitchFamily="34" charset="-122"/>
                <a:cs typeface="Inter" pitchFamily="34" charset="-120"/>
              </a:rPr>
              <a:t>www.huyghu.com · 2026</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2026-05-12T02:11:09Z</dcterms:created>
  <dcterms:modified xsi:type="dcterms:W3CDTF">2026-05-12T02:11:09Z</dcterms:modified>
</cp:coreProperties>
</file>